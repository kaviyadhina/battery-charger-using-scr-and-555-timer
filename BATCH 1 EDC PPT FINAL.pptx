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handoutMasterIdLst>
    <p:handoutMasterId r:id="rId20"/>
  </p:handoutMasterIdLst>
  <p:sldIdLst>
    <p:sldId id="259" r:id="rId2"/>
    <p:sldId id="262" r:id="rId3"/>
    <p:sldId id="267" r:id="rId4"/>
    <p:sldId id="263" r:id="rId5"/>
    <p:sldId id="264" r:id="rId6"/>
    <p:sldId id="265" r:id="rId7"/>
    <p:sldId id="268" r:id="rId8"/>
    <p:sldId id="269" r:id="rId9"/>
    <p:sldId id="270" r:id="rId10"/>
    <p:sldId id="275" r:id="rId11"/>
    <p:sldId id="271" r:id="rId12"/>
    <p:sldId id="274" r:id="rId13"/>
    <p:sldId id="276" r:id="rId14"/>
    <p:sldId id="277" r:id="rId15"/>
    <p:sldId id="278" r:id="rId16"/>
    <p:sldId id="279" r:id="rId17"/>
    <p:sldId id="280"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41" autoAdjust="0"/>
  </p:normalViewPr>
  <p:slideViewPr>
    <p:cSldViewPr snapToGrid="0">
      <p:cViewPr varScale="1">
        <p:scale>
          <a:sx n="82" d="100"/>
          <a:sy n="82" d="100"/>
        </p:scale>
        <p:origin x="720"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A3051BB-7020-6CDA-F623-B1EF800D7F8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CBDA6634-998E-895E-6374-4CBF169F313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endParaRPr lang="en-IN"/>
          </a:p>
        </p:txBody>
      </p:sp>
      <p:sp>
        <p:nvSpPr>
          <p:cNvPr id="4" name="Footer Placeholder 3">
            <a:extLst>
              <a:ext uri="{FF2B5EF4-FFF2-40B4-BE49-F238E27FC236}">
                <a16:creationId xmlns:a16="http://schemas.microsoft.com/office/drawing/2014/main" id="{184954F6-2C88-45D6-3E13-60FE9F32A8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76F6A700-C2A2-822E-505C-0A663BD75C0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9D2B6FE-F3D4-45E7-A59D-2636C327EC2B}" type="slidenum">
              <a:rPr lang="en-IN" smtClean="0"/>
              <a:pPr/>
              <a:t>‹#›</a:t>
            </a:fld>
            <a:endParaRPr lang="en-IN"/>
          </a:p>
        </p:txBody>
      </p:sp>
    </p:spTree>
    <p:extLst>
      <p:ext uri="{BB962C8B-B14F-4D97-AF65-F5344CB8AC3E}">
        <p14:creationId xmlns:p14="http://schemas.microsoft.com/office/powerpoint/2010/main" val="1513965526"/>
      </p:ext>
    </p:extLst>
  </p:cSld>
  <p:clrMap bg1="lt1" tx1="dk1" bg2="lt2" tx2="dk2" accent1="accent1" accent2="accent2" accent3="accent3" accent4="accent4" accent5="accent5" accent6="accent6" hlink="hlink" folHlink="folHlink"/>
  <p:hf sldNum="0"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6FE0ED-EEA7-429A-AA6D-BF10371DBF59}" type="slidenum">
              <a:rPr lang="en-IN" smtClean="0"/>
              <a:pPr/>
              <a:t>‹#›</a:t>
            </a:fld>
            <a:endParaRPr lang="en-IN"/>
          </a:p>
        </p:txBody>
      </p:sp>
    </p:spTree>
    <p:extLst>
      <p:ext uri="{BB962C8B-B14F-4D97-AF65-F5344CB8AC3E}">
        <p14:creationId xmlns:p14="http://schemas.microsoft.com/office/powerpoint/2010/main" val="1440040988"/>
      </p:ext>
    </p:extLst>
  </p:cSld>
  <p:clrMap bg1="lt1" tx1="dk1" bg2="lt2" tx2="dk2" accent1="accent1" accent2="accent2" accent3="accent3" accent4="accent4" accent5="accent5" accent6="accent6" hlink="hlink" folHlink="folHlink"/>
  <p:hf sldNum="0"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AF401528-9B91-4E1D-B780-4756D7A5B230}" type="datetimeFigureOut">
              <a:rPr lang="en-IN" smtClean="0"/>
              <a:pPr/>
              <a:t>04-12-2024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F04DAD-6FC7-491D-82CC-E8CDA596BFB0}" type="slidenum">
              <a:rPr lang="en-IN" smtClean="0"/>
              <a:pPr/>
              <a:t>‹#›</a:t>
            </a:fld>
            <a:endParaRPr lang="en-IN"/>
          </a:p>
        </p:txBody>
      </p:sp>
    </p:spTree>
    <p:extLst>
      <p:ext uri="{BB962C8B-B14F-4D97-AF65-F5344CB8AC3E}">
        <p14:creationId xmlns:p14="http://schemas.microsoft.com/office/powerpoint/2010/main" val="38692356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F401528-9B91-4E1D-B780-4756D7A5B230}" type="datetimeFigureOut">
              <a:rPr lang="en-IN" smtClean="0"/>
              <a:pPr/>
              <a:t>04-12-2024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F04DAD-6FC7-491D-82CC-E8CDA596BFB0}" type="slidenum">
              <a:rPr lang="en-IN" smtClean="0"/>
              <a:pPr/>
              <a:t>‹#›</a:t>
            </a:fld>
            <a:endParaRPr lang="en-IN"/>
          </a:p>
        </p:txBody>
      </p:sp>
    </p:spTree>
    <p:extLst>
      <p:ext uri="{BB962C8B-B14F-4D97-AF65-F5344CB8AC3E}">
        <p14:creationId xmlns:p14="http://schemas.microsoft.com/office/powerpoint/2010/main" val="10610343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F401528-9B91-4E1D-B780-4756D7A5B230}" type="datetimeFigureOut">
              <a:rPr lang="en-IN" smtClean="0"/>
              <a:pPr/>
              <a:t>04-12-2024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F04DAD-6FC7-491D-82CC-E8CDA596BFB0}" type="slidenum">
              <a:rPr lang="en-IN" smtClean="0"/>
              <a:pPr/>
              <a:t>‹#›</a:t>
            </a:fld>
            <a:endParaRPr lang="en-IN"/>
          </a:p>
        </p:txBody>
      </p:sp>
    </p:spTree>
    <p:extLst>
      <p:ext uri="{BB962C8B-B14F-4D97-AF65-F5344CB8AC3E}">
        <p14:creationId xmlns:p14="http://schemas.microsoft.com/office/powerpoint/2010/main" val="912573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AF401528-9B91-4E1D-B780-4756D7A5B230}" type="datetimeFigureOut">
              <a:rPr lang="en-IN" smtClean="0"/>
              <a:pPr/>
              <a:t>04-12-2024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6F04DAD-6FC7-491D-82CC-E8CDA596BFB0}" type="slidenum">
              <a:rPr lang="en-IN" smtClean="0"/>
              <a:pPr/>
              <a:t>‹#›</a:t>
            </a:fld>
            <a:endParaRPr lang="en-IN"/>
          </a:p>
        </p:txBody>
      </p:sp>
    </p:spTree>
    <p:extLst>
      <p:ext uri="{BB962C8B-B14F-4D97-AF65-F5344CB8AC3E}">
        <p14:creationId xmlns:p14="http://schemas.microsoft.com/office/powerpoint/2010/main" val="32577766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AF401528-9B91-4E1D-B780-4756D7A5B230}" type="datetimeFigureOut">
              <a:rPr lang="en-IN" smtClean="0"/>
              <a:pPr/>
              <a:t>04-12-2024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6F04DAD-6FC7-491D-82CC-E8CDA596BFB0}" type="slidenum">
              <a:rPr lang="en-IN" smtClean="0"/>
              <a:pPr/>
              <a:t>‹#›</a:t>
            </a:fld>
            <a:endParaRPr lang="en-IN"/>
          </a:p>
        </p:txBody>
      </p:sp>
    </p:spTree>
    <p:extLst>
      <p:ext uri="{BB962C8B-B14F-4D97-AF65-F5344CB8AC3E}">
        <p14:creationId xmlns:p14="http://schemas.microsoft.com/office/powerpoint/2010/main" val="13308417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AF401528-9B91-4E1D-B780-4756D7A5B230}" type="datetimeFigureOut">
              <a:rPr lang="en-IN" smtClean="0"/>
              <a:pPr/>
              <a:t>04-12-2024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6F04DAD-6FC7-491D-82CC-E8CDA596BFB0}" type="slidenum">
              <a:rPr lang="en-IN" smtClean="0"/>
              <a:pPr/>
              <a:t>‹#›</a:t>
            </a:fld>
            <a:endParaRPr lang="en-IN"/>
          </a:p>
        </p:txBody>
      </p:sp>
    </p:spTree>
    <p:extLst>
      <p:ext uri="{BB962C8B-B14F-4D97-AF65-F5344CB8AC3E}">
        <p14:creationId xmlns:p14="http://schemas.microsoft.com/office/powerpoint/2010/main" val="29716322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401528-9B91-4E1D-B780-4756D7A5B230}" type="datetimeFigureOut">
              <a:rPr lang="en-IN" smtClean="0"/>
              <a:pPr/>
              <a:t>04-12-2024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6F04DAD-6FC7-491D-82CC-E8CDA596BFB0}" type="slidenum">
              <a:rPr lang="en-IN" smtClean="0"/>
              <a:pPr/>
              <a:t>‹#›</a:t>
            </a:fld>
            <a:endParaRPr lang="en-IN"/>
          </a:p>
        </p:txBody>
      </p:sp>
    </p:spTree>
    <p:extLst>
      <p:ext uri="{BB962C8B-B14F-4D97-AF65-F5344CB8AC3E}">
        <p14:creationId xmlns:p14="http://schemas.microsoft.com/office/powerpoint/2010/main" val="6731348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F401528-9B91-4E1D-B780-4756D7A5B230}" type="datetimeFigureOut">
              <a:rPr lang="en-IN" smtClean="0"/>
              <a:pPr/>
              <a:t>04-12-2024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6F04DAD-6FC7-491D-82CC-E8CDA596BFB0}" type="slidenum">
              <a:rPr lang="en-IN" smtClean="0"/>
              <a:pPr/>
              <a:t>‹#›</a:t>
            </a:fld>
            <a:endParaRPr lang="en-IN"/>
          </a:p>
        </p:txBody>
      </p:sp>
    </p:spTree>
    <p:extLst>
      <p:ext uri="{BB962C8B-B14F-4D97-AF65-F5344CB8AC3E}">
        <p14:creationId xmlns:p14="http://schemas.microsoft.com/office/powerpoint/2010/main" val="4580865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F401528-9B91-4E1D-B780-4756D7A5B230}" type="datetimeFigureOut">
              <a:rPr lang="en-IN" smtClean="0"/>
              <a:pPr/>
              <a:t>04-12-2024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6F04DAD-6FC7-491D-82CC-E8CDA596BFB0}" type="slidenum">
              <a:rPr lang="en-IN" smtClean="0"/>
              <a:pPr/>
              <a:t>‹#›</a:t>
            </a:fld>
            <a:endParaRPr lang="en-IN"/>
          </a:p>
        </p:txBody>
      </p:sp>
    </p:spTree>
    <p:extLst>
      <p:ext uri="{BB962C8B-B14F-4D97-AF65-F5344CB8AC3E}">
        <p14:creationId xmlns:p14="http://schemas.microsoft.com/office/powerpoint/2010/main" val="40914164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F401528-9B91-4E1D-B780-4756D7A5B230}" type="datetimeFigureOut">
              <a:rPr lang="en-IN" smtClean="0"/>
              <a:pPr/>
              <a:t>04-12-2024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F04DAD-6FC7-491D-82CC-E8CDA596BFB0}" type="slidenum">
              <a:rPr lang="en-IN" smtClean="0"/>
              <a:pPr/>
              <a:t>‹#›</a:t>
            </a:fld>
            <a:endParaRPr lang="en-IN"/>
          </a:p>
        </p:txBody>
      </p:sp>
    </p:spTree>
    <p:extLst>
      <p:ext uri="{BB962C8B-B14F-4D97-AF65-F5344CB8AC3E}">
        <p14:creationId xmlns:p14="http://schemas.microsoft.com/office/powerpoint/2010/main" val="21964249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F401528-9B91-4E1D-B780-4756D7A5B230}" type="datetimeFigureOut">
              <a:rPr lang="en-IN" smtClean="0"/>
              <a:pPr/>
              <a:t>04-12-2024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F04DAD-6FC7-491D-82CC-E8CDA596BFB0}" type="slidenum">
              <a:rPr lang="en-IN" smtClean="0"/>
              <a:pPr/>
              <a:t>‹#›</a:t>
            </a:fld>
            <a:endParaRPr lang="en-IN"/>
          </a:p>
        </p:txBody>
      </p:sp>
    </p:spTree>
    <p:extLst>
      <p:ext uri="{BB962C8B-B14F-4D97-AF65-F5344CB8AC3E}">
        <p14:creationId xmlns:p14="http://schemas.microsoft.com/office/powerpoint/2010/main" val="16622107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401528-9B91-4E1D-B780-4756D7A5B230}" type="datetimeFigureOut">
              <a:rPr lang="en-IN" smtClean="0"/>
              <a:pPr/>
              <a:t>04-12-2024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F04DAD-6FC7-491D-82CC-E8CDA596BFB0}" type="slidenum">
              <a:rPr lang="en-IN" smtClean="0"/>
              <a:pPr/>
              <a:t>‹#›</a:t>
            </a:fld>
            <a:endParaRPr lang="en-IN"/>
          </a:p>
        </p:txBody>
      </p:sp>
    </p:spTree>
    <p:extLst>
      <p:ext uri="{BB962C8B-B14F-4D97-AF65-F5344CB8AC3E}">
        <p14:creationId xmlns:p14="http://schemas.microsoft.com/office/powerpoint/2010/main" val="25002135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6.xml"/><Relationship Id="rId5" Type="http://schemas.openxmlformats.org/officeDocument/2006/relationships/image" Target="../media/image5.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18715" y="1696728"/>
            <a:ext cx="5743272" cy="461665"/>
          </a:xfrm>
          <a:prstGeom prst="rect">
            <a:avLst/>
          </a:prstGeom>
        </p:spPr>
        <p:txBody>
          <a:bodyPr wrap="square">
            <a:spAutoFit/>
          </a:bodyPr>
          <a:lstStyle/>
          <a:p>
            <a:r>
              <a:rPr lang="en-US" sz="2400" b="1" dirty="0">
                <a:solidFill>
                  <a:srgbClr val="FF0000"/>
                </a:solidFill>
                <a:latin typeface="Times New Roman" panose="02020603050405020304" pitchFamily="18" charset="0"/>
                <a:cs typeface="Times New Roman" panose="02020603050405020304" pitchFamily="18" charset="0"/>
              </a:rPr>
              <a:t>       </a:t>
            </a:r>
          </a:p>
        </p:txBody>
      </p:sp>
      <p:sp>
        <p:nvSpPr>
          <p:cNvPr id="3" name="Rectangle 2"/>
          <p:cNvSpPr/>
          <p:nvPr/>
        </p:nvSpPr>
        <p:spPr>
          <a:xfrm>
            <a:off x="0" y="1268361"/>
            <a:ext cx="12192000" cy="400110"/>
          </a:xfrm>
          <a:prstGeom prst="rect">
            <a:avLst/>
          </a:prstGeom>
        </p:spPr>
        <p:txBody>
          <a:bodyPr wrap="square">
            <a:spAutoFit/>
          </a:bodyPr>
          <a:lstStyle/>
          <a:p>
            <a:pPr algn="ctr"/>
            <a:r>
              <a:rPr lang="en-US" sz="2000" b="1" dirty="0">
                <a:latin typeface="Times New Roman" panose="02020603050405020304" pitchFamily="18" charset="0"/>
                <a:cs typeface="Times New Roman" panose="02020603050405020304" pitchFamily="18" charset="0"/>
              </a:rPr>
              <a:t>DEPARTMENT OF ELECTRICAL AND ELECTRONICS ENGINEERING</a:t>
            </a:r>
            <a:endParaRPr lang="en-US" sz="2000" b="1" dirty="0"/>
          </a:p>
        </p:txBody>
      </p:sp>
      <p:sp>
        <p:nvSpPr>
          <p:cNvPr id="7" name="Rectangle 6"/>
          <p:cNvSpPr/>
          <p:nvPr/>
        </p:nvSpPr>
        <p:spPr>
          <a:xfrm>
            <a:off x="1" y="2870435"/>
            <a:ext cx="12191999" cy="553998"/>
          </a:xfrm>
          <a:prstGeom prst="rect">
            <a:avLst/>
          </a:prstGeom>
        </p:spPr>
        <p:txBody>
          <a:bodyPr wrap="square">
            <a:spAutoFit/>
          </a:bodyPr>
          <a:lstStyle/>
          <a:p>
            <a:pPr algn="ctr"/>
            <a:endParaRPr lang="en-US" sz="3000" b="1" dirty="0">
              <a:solidFill>
                <a:schemeClr val="accent5"/>
              </a:solidFill>
              <a:latin typeface="Algerian" panose="04020705040A02060702" pitchFamily="82" charset="0"/>
            </a:endParaRPr>
          </a:p>
        </p:txBody>
      </p:sp>
      <p:sp>
        <p:nvSpPr>
          <p:cNvPr id="9" name="Rectangle 8"/>
          <p:cNvSpPr/>
          <p:nvPr/>
        </p:nvSpPr>
        <p:spPr>
          <a:xfrm>
            <a:off x="437208" y="5292778"/>
            <a:ext cx="3576319" cy="954107"/>
          </a:xfrm>
          <a:prstGeom prst="rect">
            <a:avLst/>
          </a:prstGeom>
        </p:spPr>
        <p:txBody>
          <a:bodyPr wrap="square">
            <a:spAutoFit/>
          </a:bodyPr>
          <a:lstStyle/>
          <a:p>
            <a:r>
              <a:rPr lang="en-US" sz="2000" b="1" dirty="0">
                <a:latin typeface="Times New Roman" panose="02020603050405020304" pitchFamily="18" charset="0"/>
                <a:cs typeface="Times New Roman" panose="02020603050405020304" pitchFamily="18" charset="0"/>
              </a:rPr>
              <a:t>       GUIDED BY:</a:t>
            </a:r>
          </a:p>
          <a:p>
            <a:r>
              <a:rPr lang="en-US" dirty="0">
                <a:latin typeface="Times New Roman" panose="02020603050405020304" pitchFamily="18" charset="0"/>
                <a:cs typeface="Times New Roman" panose="02020603050405020304" pitchFamily="18" charset="0"/>
              </a:rPr>
              <a:t>        </a:t>
            </a:r>
            <a:r>
              <a:rPr lang="en-US" sz="1800" b="1" dirty="0" err="1">
                <a:latin typeface="Times New Roman" panose="02020603050405020304" pitchFamily="18" charset="0"/>
                <a:cs typeface="Times New Roman" panose="02020603050405020304" pitchFamily="18" charset="0"/>
              </a:rPr>
              <a:t>Dr.S.Banumathi</a:t>
            </a:r>
            <a:r>
              <a:rPr lang="en-US" sz="1800" b="1" dirty="0">
                <a:latin typeface="Times New Roman" panose="02020603050405020304" pitchFamily="18" charset="0"/>
                <a:cs typeface="Times New Roman" panose="02020603050405020304" pitchFamily="18" charset="0"/>
              </a:rPr>
              <a:t>,  M.E., </a:t>
            </a:r>
            <a:r>
              <a:rPr lang="en-US" sz="1800" b="1" dirty="0" err="1">
                <a:latin typeface="Times New Roman" panose="02020603050405020304" pitchFamily="18" charset="0"/>
                <a:cs typeface="Times New Roman" panose="02020603050405020304" pitchFamily="18" charset="0"/>
              </a:rPr>
              <a:t>Ph.D</a:t>
            </a:r>
            <a:r>
              <a:rPr lang="en-US" sz="1800" b="1" dirty="0">
                <a:latin typeface="Times New Roman" panose="02020603050405020304" pitchFamily="18" charset="0"/>
                <a:cs typeface="Times New Roman" panose="02020603050405020304" pitchFamily="18" charset="0"/>
              </a:rPr>
              <a:t>,</a:t>
            </a:r>
          </a:p>
          <a:p>
            <a:r>
              <a:rPr lang="en-US" b="1" dirty="0">
                <a:latin typeface="Times New Roman" panose="02020603050405020304" pitchFamily="18" charset="0"/>
                <a:cs typeface="Times New Roman" panose="02020603050405020304" pitchFamily="18" charset="0"/>
              </a:rPr>
              <a:t>        Professor /EEE</a:t>
            </a:r>
            <a:endParaRPr lang="en-US" b="1" dirty="0"/>
          </a:p>
        </p:txBody>
      </p:sp>
      <p:sp>
        <p:nvSpPr>
          <p:cNvPr id="10" name="Rectangle 9"/>
          <p:cNvSpPr/>
          <p:nvPr/>
        </p:nvSpPr>
        <p:spPr>
          <a:xfrm>
            <a:off x="5301343" y="3833917"/>
            <a:ext cx="6477046" cy="1785104"/>
          </a:xfrm>
          <a:prstGeom prst="rect">
            <a:avLst/>
          </a:prstGeom>
        </p:spPr>
        <p:txBody>
          <a:bodyPr wrap="square">
            <a:spAutoFit/>
          </a:bodyPr>
          <a:lstStyle/>
          <a:p>
            <a:r>
              <a:rPr lang="en-US" sz="2000" b="1" dirty="0">
                <a:latin typeface="Times New Roman" panose="02020603050405020304" pitchFamily="18" charset="0"/>
                <a:cs typeface="Times New Roman" panose="02020603050405020304" pitchFamily="18" charset="0"/>
              </a:rPr>
              <a:t>PRESENTED BY:</a:t>
            </a:r>
          </a:p>
          <a:p>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ISWARYA.P	              (927622BEE035)</a:t>
            </a:r>
          </a:p>
          <a:p>
            <a:r>
              <a:rPr lang="en-US" dirty="0">
                <a:latin typeface="Times New Roman" panose="02020603050405020304" pitchFamily="18" charset="0"/>
                <a:cs typeface="Times New Roman" panose="02020603050405020304" pitchFamily="18" charset="0"/>
              </a:rPr>
              <a:t>KARNIKA.D                        (927623BEE039)</a:t>
            </a:r>
          </a:p>
          <a:p>
            <a:r>
              <a:rPr lang="en-US" dirty="0">
                <a:latin typeface="Times New Roman" panose="02020603050405020304" pitchFamily="18" charset="0"/>
                <a:cs typeface="Times New Roman" panose="02020603050405020304" pitchFamily="18" charset="0"/>
              </a:rPr>
              <a:t>KARUNYA SHREE .S         (927622BEE042)</a:t>
            </a:r>
          </a:p>
          <a:p>
            <a:r>
              <a:rPr lang="en-US" dirty="0">
                <a:latin typeface="Times New Roman" panose="02020603050405020304" pitchFamily="18" charset="0"/>
                <a:cs typeface="Times New Roman" panose="02020603050405020304" pitchFamily="18" charset="0"/>
              </a:rPr>
              <a:t>KAVIYA.G	              (927622BEE043)</a:t>
            </a:r>
          </a:p>
        </p:txBody>
      </p:sp>
      <p:pic>
        <p:nvPicPr>
          <p:cNvPr id="11" name="Picture 10">
            <a:extLst>
              <a:ext uri="{FF2B5EF4-FFF2-40B4-BE49-F238E27FC236}">
                <a16:creationId xmlns:a16="http://schemas.microsoft.com/office/drawing/2014/main" id="{AACC1C39-0252-6927-4745-4FF3028C0EC0}"/>
              </a:ext>
            </a:extLst>
          </p:cNvPr>
          <p:cNvPicPr>
            <a:picLocks noChangeAspect="1"/>
          </p:cNvPicPr>
          <p:nvPr/>
        </p:nvPicPr>
        <p:blipFill>
          <a:blip r:embed="rId2" cstate="print"/>
          <a:srcRect t="20925" b="14217"/>
          <a:stretch>
            <a:fillRect/>
          </a:stretch>
        </p:blipFill>
        <p:spPr>
          <a:xfrm>
            <a:off x="235983" y="176984"/>
            <a:ext cx="2816934" cy="958645"/>
          </a:xfrm>
          <a:prstGeom prst="rect">
            <a:avLst/>
          </a:prstGeom>
        </p:spPr>
      </p:pic>
      <p:pic>
        <p:nvPicPr>
          <p:cNvPr id="12" name="Picture 11">
            <a:extLst>
              <a:ext uri="{FF2B5EF4-FFF2-40B4-BE49-F238E27FC236}">
                <a16:creationId xmlns:a16="http://schemas.microsoft.com/office/drawing/2014/main" id="{B4623304-5C5F-A8A9-DE75-3BFF4F106A5A}"/>
              </a:ext>
            </a:extLst>
          </p:cNvPr>
          <p:cNvPicPr>
            <a:picLocks noChangeAspect="1"/>
          </p:cNvPicPr>
          <p:nvPr/>
        </p:nvPicPr>
        <p:blipFill rotWithShape="1">
          <a:blip r:embed="rId3"/>
          <a:srcRect l="17820" r="18861"/>
          <a:stretch/>
        </p:blipFill>
        <p:spPr>
          <a:xfrm>
            <a:off x="11282517" y="191728"/>
            <a:ext cx="680332" cy="635895"/>
          </a:xfrm>
          <a:prstGeom prst="rect">
            <a:avLst/>
          </a:prstGeom>
        </p:spPr>
      </p:pic>
      <p:pic>
        <p:nvPicPr>
          <p:cNvPr id="6" name="Picture 5"/>
          <p:cNvPicPr>
            <a:picLocks noChangeAspect="1"/>
          </p:cNvPicPr>
          <p:nvPr/>
        </p:nvPicPr>
        <p:blipFill>
          <a:blip r:embed="rId4" cstate="print"/>
          <a:stretch>
            <a:fillRect/>
          </a:stretch>
        </p:blipFill>
        <p:spPr>
          <a:xfrm>
            <a:off x="5928852" y="269154"/>
            <a:ext cx="979948" cy="736822"/>
          </a:xfrm>
          <a:prstGeom prst="rect">
            <a:avLst/>
          </a:prstGeom>
        </p:spPr>
      </p:pic>
      <p:sp>
        <p:nvSpPr>
          <p:cNvPr id="15" name="TextBox 14">
            <a:extLst>
              <a:ext uri="{FF2B5EF4-FFF2-40B4-BE49-F238E27FC236}">
                <a16:creationId xmlns:a16="http://schemas.microsoft.com/office/drawing/2014/main" id="{D25CA271-96D2-C244-4886-240251C1D582}"/>
              </a:ext>
            </a:extLst>
          </p:cNvPr>
          <p:cNvSpPr txBox="1"/>
          <p:nvPr/>
        </p:nvSpPr>
        <p:spPr>
          <a:xfrm>
            <a:off x="0" y="1731985"/>
            <a:ext cx="12192000" cy="400110"/>
          </a:xfrm>
          <a:prstGeom prst="rect">
            <a:avLst/>
          </a:prstGeom>
          <a:noFill/>
        </p:spPr>
        <p:txBody>
          <a:bodyPr wrap="square">
            <a:spAutoFit/>
          </a:bodyPr>
          <a:lstStyle/>
          <a:p>
            <a:pPr algn="ctr"/>
            <a:r>
              <a:rPr lang="en-US" sz="2000" b="1" dirty="0">
                <a:solidFill>
                  <a:srgbClr val="FF0000"/>
                </a:solidFill>
                <a:latin typeface="Times New Roman" panose="02020603050405020304" pitchFamily="18" charset="0"/>
                <a:cs typeface="Times New Roman" panose="02020603050405020304" pitchFamily="18" charset="0"/>
              </a:rPr>
              <a:t>EEB1204 - ELECTRON DEVICES AND CIRCUITS</a:t>
            </a:r>
          </a:p>
        </p:txBody>
      </p:sp>
      <p:sp>
        <p:nvSpPr>
          <p:cNvPr id="17" name="TextBox 16">
            <a:extLst>
              <a:ext uri="{FF2B5EF4-FFF2-40B4-BE49-F238E27FC236}">
                <a16:creationId xmlns:a16="http://schemas.microsoft.com/office/drawing/2014/main" id="{84E93011-3454-46D6-8AA0-ACDF067DE3B1}"/>
              </a:ext>
            </a:extLst>
          </p:cNvPr>
          <p:cNvSpPr txBox="1"/>
          <p:nvPr/>
        </p:nvSpPr>
        <p:spPr>
          <a:xfrm>
            <a:off x="895739" y="3886098"/>
            <a:ext cx="3331028" cy="1200329"/>
          </a:xfrm>
          <a:prstGeom prst="rect">
            <a:avLst/>
          </a:prstGeom>
          <a:noFill/>
        </p:spPr>
        <p:txBody>
          <a:bodyPr wrap="square">
            <a:spAutoFit/>
          </a:bodyPr>
          <a:lstStyle/>
          <a:p>
            <a:pPr>
              <a:lnSpc>
                <a:spcPct val="150000"/>
              </a:lnSpc>
            </a:pPr>
            <a:r>
              <a:rPr lang="en-US" sz="1600" b="1" dirty="0">
                <a:solidFill>
                  <a:srgbClr val="7030A0"/>
                </a:solidFill>
                <a:latin typeface="Times New Roman" panose="02020603050405020304" pitchFamily="18" charset="0"/>
                <a:cs typeface="Times New Roman" panose="02020603050405020304" pitchFamily="18" charset="0"/>
              </a:rPr>
              <a:t>YEAR/ SEMESTER – II/III</a:t>
            </a:r>
          </a:p>
          <a:p>
            <a:pPr>
              <a:lnSpc>
                <a:spcPct val="150000"/>
              </a:lnSpc>
            </a:pPr>
            <a:r>
              <a:rPr lang="en-US" sz="1600" b="1" dirty="0">
                <a:solidFill>
                  <a:srgbClr val="7030A0"/>
                </a:solidFill>
                <a:latin typeface="Times New Roman" panose="02020603050405020304" pitchFamily="18" charset="0"/>
                <a:cs typeface="Times New Roman" panose="02020603050405020304" pitchFamily="18" charset="0"/>
              </a:rPr>
              <a:t>BATCH NUMBER : 1</a:t>
            </a:r>
          </a:p>
          <a:p>
            <a:pPr>
              <a:lnSpc>
                <a:spcPct val="150000"/>
              </a:lnSpc>
            </a:pPr>
            <a:r>
              <a:rPr lang="en-US" sz="1600" b="1" dirty="0">
                <a:solidFill>
                  <a:srgbClr val="7030A0"/>
                </a:solidFill>
                <a:latin typeface="Times New Roman" panose="02020603050405020304" pitchFamily="18" charset="0"/>
                <a:cs typeface="Times New Roman" panose="02020603050405020304" pitchFamily="18" charset="0"/>
              </a:rPr>
              <a:t>DATE :05-12-2024</a:t>
            </a:r>
            <a:endParaRPr lang="en-US" sz="1600" b="1" dirty="0">
              <a:solidFill>
                <a:srgbClr val="7030A0"/>
              </a:solidFill>
            </a:endParaRPr>
          </a:p>
        </p:txBody>
      </p:sp>
      <p:sp>
        <p:nvSpPr>
          <p:cNvPr id="20" name="TextBox 19">
            <a:extLst>
              <a:ext uri="{FF2B5EF4-FFF2-40B4-BE49-F238E27FC236}">
                <a16:creationId xmlns:a16="http://schemas.microsoft.com/office/drawing/2014/main" id="{0BEDF041-0DED-A3E5-7109-BD6C6104408D}"/>
              </a:ext>
            </a:extLst>
          </p:cNvPr>
          <p:cNvSpPr txBox="1"/>
          <p:nvPr/>
        </p:nvSpPr>
        <p:spPr>
          <a:xfrm>
            <a:off x="0" y="2243531"/>
            <a:ext cx="12192000" cy="646331"/>
          </a:xfrm>
          <a:prstGeom prst="rect">
            <a:avLst/>
          </a:prstGeom>
          <a:noFill/>
        </p:spPr>
        <p:txBody>
          <a:bodyPr wrap="square">
            <a:spAutoFit/>
          </a:bodyPr>
          <a:lstStyle/>
          <a:p>
            <a:pPr algn="ctr"/>
            <a:r>
              <a:rPr lang="en-US" sz="1800" b="1" dirty="0">
                <a:solidFill>
                  <a:schemeClr val="accent5"/>
                </a:solidFill>
                <a:latin typeface="Algerian" panose="04020705040A02060702" pitchFamily="82" charset="0"/>
              </a:rPr>
              <a:t>BATTERY CHARGER USING SCR AND 555 TIMER</a:t>
            </a:r>
          </a:p>
          <a:p>
            <a:pPr algn="ctr"/>
            <a:endParaRPr lang="en-US" sz="1800" b="1" dirty="0"/>
          </a:p>
        </p:txBody>
      </p:sp>
    </p:spTree>
    <p:extLst>
      <p:ext uri="{BB962C8B-B14F-4D97-AF65-F5344CB8AC3E}">
        <p14:creationId xmlns:p14="http://schemas.microsoft.com/office/powerpoint/2010/main" val="3925159884"/>
      </p:ext>
    </p:extLst>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81000" y="2067271"/>
            <a:ext cx="11430000" cy="4191981"/>
          </a:xfrm>
          <a:prstGeom prst="rect">
            <a:avLst/>
          </a:prstGeom>
        </p:spPr>
        <p:txBody>
          <a:bodyPr wrap="square">
            <a:spAutoFit/>
          </a:bodyPr>
          <a:lstStyle/>
          <a:p>
            <a:pPr algn="just">
              <a:lnSpc>
                <a:spcPct val="150000"/>
              </a:lnSpc>
            </a:pPr>
            <a:r>
              <a:rPr lang="en-GB" sz="2000" dirty="0">
                <a:solidFill>
                  <a:srgbClr val="000000"/>
                </a:solidFill>
                <a:latin typeface="Times New Roman" panose="02020603050405020304" pitchFamily="18" charset="0"/>
                <a:cs typeface="Times New Roman" panose="02020603050405020304" pitchFamily="18" charset="0"/>
              </a:rPr>
              <a:t>This project focuses on designing a battery charger circuit using a Silicon-Controlled</a:t>
            </a:r>
            <a:r>
              <a:rPr lang="en-US" sz="2000" dirty="0">
                <a:solidFill>
                  <a:srgbClr val="000000"/>
                </a:solidFill>
                <a:latin typeface="Times New Roman" panose="02020603050405020304" pitchFamily="18" charset="0"/>
                <a:cs typeface="Times New Roman" panose="02020603050405020304" pitchFamily="18" charset="0"/>
              </a:rPr>
              <a:t> R</a:t>
            </a:r>
            <a:r>
              <a:rPr lang="en-GB" sz="2000" dirty="0" err="1">
                <a:solidFill>
                  <a:srgbClr val="000000"/>
                </a:solidFill>
                <a:latin typeface="Times New Roman" panose="02020603050405020304" pitchFamily="18" charset="0"/>
                <a:cs typeface="Times New Roman" panose="02020603050405020304" pitchFamily="18" charset="0"/>
              </a:rPr>
              <a:t>ectifier</a:t>
            </a:r>
            <a:r>
              <a:rPr lang="en-GB" sz="2000" dirty="0">
                <a:solidFill>
                  <a:srgbClr val="000000"/>
                </a:solidFill>
                <a:latin typeface="Times New Roman" panose="02020603050405020304" pitchFamily="18" charset="0"/>
                <a:cs typeface="Times New Roman" panose="02020603050405020304" pitchFamily="18" charset="0"/>
              </a:rPr>
              <a:t> (SCR) and a 555 timer IC, which provides a controlled and efficient charging mechanism for batteries. The SCR acts as a switch to regulate the charging current supplied to the battery, while the 555 timer operates in astable mode to control the timing and switching of the SCR. The charger circuit is designed to prevent overcharging by automatically disconnecting the battery once it is fully charged. The 555 timer generates a periodic pulse signal, which triggers the SCR for precise control of the charging process. By adjusting the duty cycle of the timer, the charging current can be varied, providing flexibility for charging different types of batteries (e.g., lead-acid, lithium-ion).The integration of the SCR and 555 timer ensures that the battery is charged safely and efficiently, with the added benefit of minimizing power losses. </a:t>
            </a:r>
            <a:r>
              <a:rPr lang="en-US" sz="2000"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4B6D8522-EF70-75ED-8771-474E9267D06D}"/>
              </a:ext>
            </a:extLst>
          </p:cNvPr>
          <p:cNvSpPr/>
          <p:nvPr/>
        </p:nvSpPr>
        <p:spPr>
          <a:xfrm>
            <a:off x="206477" y="1287292"/>
            <a:ext cx="11783962" cy="498663"/>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50000"/>
              </a:lnSpc>
            </a:pPr>
            <a:r>
              <a:rPr lang="en-US" sz="2000" b="1" dirty="0">
                <a:latin typeface="Times New Roman" panose="02020603050405020304" pitchFamily="18" charset="0"/>
                <a:cs typeface="Times New Roman" panose="02020603050405020304" pitchFamily="18" charset="0"/>
              </a:rPr>
              <a:t>ABSTRACT</a:t>
            </a:r>
          </a:p>
        </p:txBody>
      </p:sp>
      <p:pic>
        <p:nvPicPr>
          <p:cNvPr id="8" name="Picture 7">
            <a:extLst>
              <a:ext uri="{FF2B5EF4-FFF2-40B4-BE49-F238E27FC236}">
                <a16:creationId xmlns:a16="http://schemas.microsoft.com/office/drawing/2014/main" id="{AACC1C39-0252-6927-4745-4FF3028C0EC0}"/>
              </a:ext>
            </a:extLst>
          </p:cNvPr>
          <p:cNvPicPr>
            <a:picLocks noChangeAspect="1"/>
          </p:cNvPicPr>
          <p:nvPr/>
        </p:nvPicPr>
        <p:blipFill>
          <a:blip r:embed="rId2" cstate="print"/>
          <a:srcRect t="20925" b="14217"/>
          <a:stretch>
            <a:fillRect/>
          </a:stretch>
        </p:blipFill>
        <p:spPr>
          <a:xfrm>
            <a:off x="235983" y="176984"/>
            <a:ext cx="2816934" cy="958645"/>
          </a:xfrm>
          <a:prstGeom prst="rect">
            <a:avLst/>
          </a:prstGeom>
        </p:spPr>
      </p:pic>
      <p:pic>
        <p:nvPicPr>
          <p:cNvPr id="9" name="Picture 8">
            <a:extLst>
              <a:ext uri="{FF2B5EF4-FFF2-40B4-BE49-F238E27FC236}">
                <a16:creationId xmlns:a16="http://schemas.microsoft.com/office/drawing/2014/main" id="{B4623304-5C5F-A8A9-DE75-3BFF4F106A5A}"/>
              </a:ext>
            </a:extLst>
          </p:cNvPr>
          <p:cNvPicPr>
            <a:picLocks noChangeAspect="1"/>
          </p:cNvPicPr>
          <p:nvPr/>
        </p:nvPicPr>
        <p:blipFill rotWithShape="1">
          <a:blip r:embed="rId3"/>
          <a:srcRect l="17820" r="18861"/>
          <a:stretch/>
        </p:blipFill>
        <p:spPr>
          <a:xfrm>
            <a:off x="11282517" y="191728"/>
            <a:ext cx="680332" cy="635895"/>
          </a:xfrm>
          <a:prstGeom prst="rect">
            <a:avLst/>
          </a:prstGeom>
        </p:spPr>
      </p:pic>
      <p:pic>
        <p:nvPicPr>
          <p:cNvPr id="10" name="Picture 9"/>
          <p:cNvPicPr>
            <a:picLocks noChangeAspect="1"/>
          </p:cNvPicPr>
          <p:nvPr/>
        </p:nvPicPr>
        <p:blipFill>
          <a:blip r:embed="rId4" cstate="print"/>
          <a:stretch>
            <a:fillRect/>
          </a:stretch>
        </p:blipFill>
        <p:spPr>
          <a:xfrm>
            <a:off x="5928852" y="269154"/>
            <a:ext cx="979948" cy="736822"/>
          </a:xfrm>
          <a:prstGeom prst="rect">
            <a:avLst/>
          </a:prstGeom>
        </p:spPr>
      </p:pic>
    </p:spTree>
    <p:extLst>
      <p:ext uri="{BB962C8B-B14F-4D97-AF65-F5344CB8AC3E}">
        <p14:creationId xmlns:p14="http://schemas.microsoft.com/office/powerpoint/2010/main" val="1198310589"/>
      </p:ext>
    </p:extLst>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73223" y="2067271"/>
            <a:ext cx="11495315" cy="3730317"/>
          </a:xfrm>
          <a:prstGeom prst="rect">
            <a:avLst/>
          </a:prstGeom>
        </p:spPr>
        <p:txBody>
          <a:bodyPr wrap="square">
            <a:spAutoFit/>
          </a:bodyPr>
          <a:lstStyle/>
          <a:p>
            <a:pPr>
              <a:lnSpc>
                <a:spcPct val="150000"/>
              </a:lnSpc>
            </a:pPr>
            <a:r>
              <a:rPr lang="en-US" sz="2000" b="1" dirty="0">
                <a:latin typeface="Times New Roman" panose="02020603050405020304" pitchFamily="18" charset="0"/>
                <a:cs typeface="Times New Roman" panose="02020603050405020304" pitchFamily="18" charset="0"/>
              </a:rPr>
              <a:t>Patel et al.</a:t>
            </a:r>
          </a:p>
          <a:p>
            <a:pPr>
              <a:lnSpc>
                <a:spcPct val="150000"/>
              </a:lnSpc>
            </a:pPr>
            <a:r>
              <a:rPr lang="en-US" sz="2000" b="1" dirty="0">
                <a:latin typeface="Times New Roman" panose="02020603050405020304" pitchFamily="18" charset="0"/>
                <a:cs typeface="Times New Roman" panose="02020603050405020304" pitchFamily="18" charset="0"/>
              </a:rPr>
              <a:t>ScienceDirect (2021)</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In IEEE Access explored SCR-based chargers for lead-acid batteries, demonstrating high efficiency in current regulation and overcharging prevention. The paper highlights that SCRs significantly improve energy transfer by switching off when the battery reaches full charge. He analyzed the reliability of SCRs in high-current applications. They emphasized their robust performance but noted the need for precise triggering mechanisms, which can be achieved with a 555 timer.</a:t>
            </a:r>
            <a:endParaRPr lang="en-IN" sz="2000" dirty="0">
              <a:latin typeface="Times New Roman" panose="02020603050405020304" pitchFamily="18" charset="0"/>
              <a:cs typeface="Times New Roman" panose="02020603050405020304" pitchFamily="18" charset="0"/>
            </a:endParaRPr>
          </a:p>
          <a:p>
            <a:pPr marL="342900" indent="-342900" algn="ctr">
              <a:lnSpc>
                <a:spcPct val="150000"/>
              </a:lnSpc>
              <a:buFont typeface="Wingdings" panose="05000000000000000000" pitchFamily="2" charset="2"/>
              <a:buChar char="Ø"/>
            </a:pPr>
            <a:endParaRPr lang="en-US" sz="2000" b="1"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4B6D8522-EF70-75ED-8771-474E9267D06D}"/>
              </a:ext>
            </a:extLst>
          </p:cNvPr>
          <p:cNvSpPr/>
          <p:nvPr/>
        </p:nvSpPr>
        <p:spPr>
          <a:xfrm>
            <a:off x="206477" y="1287292"/>
            <a:ext cx="11783962" cy="498663"/>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50000"/>
              </a:lnSpc>
            </a:pPr>
            <a:r>
              <a:rPr lang="en-US" sz="2000" b="1" dirty="0">
                <a:latin typeface="Times New Roman" panose="02020603050405020304" pitchFamily="18" charset="0"/>
                <a:cs typeface="Times New Roman" panose="02020603050405020304" pitchFamily="18" charset="0"/>
              </a:rPr>
              <a:t>LITERATURE REVIEW</a:t>
            </a:r>
          </a:p>
        </p:txBody>
      </p:sp>
      <p:pic>
        <p:nvPicPr>
          <p:cNvPr id="8" name="Picture 7">
            <a:extLst>
              <a:ext uri="{FF2B5EF4-FFF2-40B4-BE49-F238E27FC236}">
                <a16:creationId xmlns:a16="http://schemas.microsoft.com/office/drawing/2014/main" id="{AACC1C39-0252-6927-4745-4FF3028C0EC0}"/>
              </a:ext>
            </a:extLst>
          </p:cNvPr>
          <p:cNvPicPr>
            <a:picLocks noChangeAspect="1"/>
          </p:cNvPicPr>
          <p:nvPr/>
        </p:nvPicPr>
        <p:blipFill>
          <a:blip r:embed="rId2" cstate="print"/>
          <a:srcRect t="20925" b="14217"/>
          <a:stretch>
            <a:fillRect/>
          </a:stretch>
        </p:blipFill>
        <p:spPr>
          <a:xfrm>
            <a:off x="235983" y="176984"/>
            <a:ext cx="2816934" cy="958645"/>
          </a:xfrm>
          <a:prstGeom prst="rect">
            <a:avLst/>
          </a:prstGeom>
        </p:spPr>
      </p:pic>
      <p:pic>
        <p:nvPicPr>
          <p:cNvPr id="9" name="Picture 8">
            <a:extLst>
              <a:ext uri="{FF2B5EF4-FFF2-40B4-BE49-F238E27FC236}">
                <a16:creationId xmlns:a16="http://schemas.microsoft.com/office/drawing/2014/main" id="{B4623304-5C5F-A8A9-DE75-3BFF4F106A5A}"/>
              </a:ext>
            </a:extLst>
          </p:cNvPr>
          <p:cNvPicPr>
            <a:picLocks noChangeAspect="1"/>
          </p:cNvPicPr>
          <p:nvPr/>
        </p:nvPicPr>
        <p:blipFill rotWithShape="1">
          <a:blip r:embed="rId3"/>
          <a:srcRect l="17820" r="18861"/>
          <a:stretch/>
        </p:blipFill>
        <p:spPr>
          <a:xfrm>
            <a:off x="11282517" y="191728"/>
            <a:ext cx="680332" cy="635895"/>
          </a:xfrm>
          <a:prstGeom prst="rect">
            <a:avLst/>
          </a:prstGeom>
        </p:spPr>
      </p:pic>
      <p:pic>
        <p:nvPicPr>
          <p:cNvPr id="10" name="Picture 9"/>
          <p:cNvPicPr>
            <a:picLocks noChangeAspect="1"/>
          </p:cNvPicPr>
          <p:nvPr/>
        </p:nvPicPr>
        <p:blipFill>
          <a:blip r:embed="rId4" cstate="print"/>
          <a:stretch>
            <a:fillRect/>
          </a:stretch>
        </p:blipFill>
        <p:spPr>
          <a:xfrm>
            <a:off x="5928852" y="269154"/>
            <a:ext cx="979948" cy="736822"/>
          </a:xfrm>
          <a:prstGeom prst="rect">
            <a:avLst/>
          </a:prstGeom>
        </p:spPr>
      </p:pic>
    </p:spTree>
    <p:extLst>
      <p:ext uri="{BB962C8B-B14F-4D97-AF65-F5344CB8AC3E}">
        <p14:creationId xmlns:p14="http://schemas.microsoft.com/office/powerpoint/2010/main" val="3199636619"/>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B6D8522-EF70-75ED-8771-474E9267D06D}"/>
              </a:ext>
            </a:extLst>
          </p:cNvPr>
          <p:cNvSpPr/>
          <p:nvPr/>
        </p:nvSpPr>
        <p:spPr>
          <a:xfrm>
            <a:off x="206477" y="1287292"/>
            <a:ext cx="11783962" cy="498663"/>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50000"/>
              </a:lnSpc>
            </a:pPr>
            <a:r>
              <a:rPr lang="en-US" sz="2000" b="1" dirty="0">
                <a:latin typeface="Times New Roman" panose="02020603050405020304" pitchFamily="18" charset="0"/>
                <a:cs typeface="Times New Roman" panose="02020603050405020304" pitchFamily="18" charset="0"/>
              </a:rPr>
              <a:t>IDENTIFICATION &amp; DEFINITION OF PROBLEM</a:t>
            </a:r>
          </a:p>
        </p:txBody>
      </p:sp>
      <p:pic>
        <p:nvPicPr>
          <p:cNvPr id="8" name="Picture 7">
            <a:extLst>
              <a:ext uri="{FF2B5EF4-FFF2-40B4-BE49-F238E27FC236}">
                <a16:creationId xmlns:a16="http://schemas.microsoft.com/office/drawing/2014/main" id="{AACC1C39-0252-6927-4745-4FF3028C0EC0}"/>
              </a:ext>
            </a:extLst>
          </p:cNvPr>
          <p:cNvPicPr>
            <a:picLocks noChangeAspect="1"/>
          </p:cNvPicPr>
          <p:nvPr/>
        </p:nvPicPr>
        <p:blipFill>
          <a:blip r:embed="rId2" cstate="print"/>
          <a:srcRect t="20925" b="14217"/>
          <a:stretch>
            <a:fillRect/>
          </a:stretch>
        </p:blipFill>
        <p:spPr>
          <a:xfrm>
            <a:off x="235983" y="176984"/>
            <a:ext cx="2816934" cy="958645"/>
          </a:xfrm>
          <a:prstGeom prst="rect">
            <a:avLst/>
          </a:prstGeom>
        </p:spPr>
      </p:pic>
      <p:pic>
        <p:nvPicPr>
          <p:cNvPr id="9" name="Picture 8">
            <a:extLst>
              <a:ext uri="{FF2B5EF4-FFF2-40B4-BE49-F238E27FC236}">
                <a16:creationId xmlns:a16="http://schemas.microsoft.com/office/drawing/2014/main" id="{B4623304-5C5F-A8A9-DE75-3BFF4F106A5A}"/>
              </a:ext>
            </a:extLst>
          </p:cNvPr>
          <p:cNvPicPr>
            <a:picLocks noChangeAspect="1"/>
          </p:cNvPicPr>
          <p:nvPr/>
        </p:nvPicPr>
        <p:blipFill rotWithShape="1">
          <a:blip r:embed="rId3"/>
          <a:srcRect l="17820" r="18861"/>
          <a:stretch/>
        </p:blipFill>
        <p:spPr>
          <a:xfrm>
            <a:off x="11282517" y="191728"/>
            <a:ext cx="680332" cy="635895"/>
          </a:xfrm>
          <a:prstGeom prst="rect">
            <a:avLst/>
          </a:prstGeom>
        </p:spPr>
      </p:pic>
      <p:pic>
        <p:nvPicPr>
          <p:cNvPr id="10" name="Picture 9"/>
          <p:cNvPicPr>
            <a:picLocks noChangeAspect="1"/>
          </p:cNvPicPr>
          <p:nvPr/>
        </p:nvPicPr>
        <p:blipFill>
          <a:blip r:embed="rId4" cstate="print"/>
          <a:stretch>
            <a:fillRect/>
          </a:stretch>
        </p:blipFill>
        <p:spPr>
          <a:xfrm>
            <a:off x="5928852" y="269154"/>
            <a:ext cx="979948" cy="736822"/>
          </a:xfrm>
          <a:prstGeom prst="rect">
            <a:avLst/>
          </a:prstGeom>
        </p:spPr>
      </p:pic>
      <p:sp>
        <p:nvSpPr>
          <p:cNvPr id="7" name="TextBox 6">
            <a:extLst>
              <a:ext uri="{FF2B5EF4-FFF2-40B4-BE49-F238E27FC236}">
                <a16:creationId xmlns:a16="http://schemas.microsoft.com/office/drawing/2014/main" id="{AAAE5DE4-4500-32E1-BFF7-B31EA839F91B}"/>
              </a:ext>
            </a:extLst>
          </p:cNvPr>
          <p:cNvSpPr txBox="1"/>
          <p:nvPr/>
        </p:nvSpPr>
        <p:spPr>
          <a:xfrm>
            <a:off x="384416" y="2141957"/>
            <a:ext cx="11423168" cy="3477875"/>
          </a:xfrm>
          <a:prstGeom prst="rect">
            <a:avLst/>
          </a:prstGeom>
          <a:noFill/>
        </p:spPr>
        <p:txBody>
          <a:bodyPr wrap="square">
            <a:spAutoFit/>
          </a:bodyPr>
          <a:lstStyle/>
          <a:p>
            <a:pPr marL="285750" indent="-285750" algn="just">
              <a:buFont typeface="Wingdings" panose="05000000000000000000" pitchFamily="2" charset="2"/>
              <a:buChar char="Ø"/>
            </a:pPr>
            <a:endParaRPr lang="en-US" sz="2000" dirty="0">
              <a:solidFill>
                <a:srgbClr val="000000"/>
              </a:solidFill>
            </a:endParaRPr>
          </a:p>
          <a:p>
            <a:pPr marL="285750" indent="-285750" algn="just">
              <a:buFont typeface="Wingdings" panose="05000000000000000000" pitchFamily="2" charset="2"/>
              <a:buChar char="Ø"/>
            </a:pPr>
            <a:endParaRPr lang="en-US" sz="2000" dirty="0">
              <a:solidFill>
                <a:srgbClr val="000000"/>
              </a:solidFill>
            </a:endParaRPr>
          </a:p>
          <a:p>
            <a:pPr marL="342900" indent="-342900" algn="just">
              <a:buFont typeface="Wingdings" panose="05000000000000000000" pitchFamily="2" charset="2"/>
              <a:buChar char="Ø"/>
            </a:pPr>
            <a:r>
              <a:rPr lang="en-US" sz="2000" dirty="0">
                <a:solidFill>
                  <a:srgbClr val="000000"/>
                </a:solidFill>
              </a:rPr>
              <a:t>The primary problem in conventional battery charging systems is the lack of control over the charging process, leading to inefficiencies such as overcharging, overheating, and reduced battery lifespan. </a:t>
            </a:r>
            <a:endParaRPr lang="en-GB" sz="2000" dirty="0">
              <a:solidFill>
                <a:srgbClr val="000000"/>
              </a:solidFill>
            </a:endParaRPr>
          </a:p>
          <a:p>
            <a:pPr algn="just"/>
            <a:endParaRPr lang="en-GB" sz="2000" dirty="0">
              <a:solidFill>
                <a:srgbClr val="000000"/>
              </a:solidFill>
            </a:endParaRPr>
          </a:p>
          <a:p>
            <a:pPr marL="285750" indent="-285750" algn="just">
              <a:buFont typeface="Wingdings" panose="05000000000000000000" pitchFamily="2" charset="2"/>
              <a:buChar char="Ø"/>
            </a:pPr>
            <a:r>
              <a:rPr lang="en-US" sz="2000" dirty="0">
                <a:solidFill>
                  <a:srgbClr val="000000"/>
                </a:solidFill>
              </a:rPr>
              <a:t>These issues can significantly affect the performance and safety of the battery, especially in applications involving rechargeable batteries like lead-acid, lithium-ion, or nickel-cadmium types.</a:t>
            </a:r>
            <a:endParaRPr lang="en-GB" sz="2000" dirty="0">
              <a:solidFill>
                <a:srgbClr val="000000"/>
              </a:solidFill>
            </a:endParaRPr>
          </a:p>
          <a:p>
            <a:pPr marL="342900" indent="-342900" algn="just">
              <a:buFont typeface="Wingdings" panose="05000000000000000000" pitchFamily="2" charset="2"/>
              <a:buChar char="Ø"/>
            </a:pPr>
            <a:endParaRPr lang="en-GB" sz="2000" dirty="0">
              <a:solidFill>
                <a:srgbClr val="000000"/>
              </a:solidFill>
            </a:endParaRPr>
          </a:p>
          <a:p>
            <a:pPr marL="285750" indent="-285750" algn="just">
              <a:buFont typeface="Wingdings" panose="05000000000000000000" pitchFamily="2" charset="2"/>
              <a:buChar char="Ø"/>
            </a:pPr>
            <a:r>
              <a:rPr lang="en-US" sz="2000" dirty="0">
                <a:solidFill>
                  <a:srgbClr val="000000"/>
                </a:solidFill>
              </a:rPr>
              <a:t>To address this, the proposed solution is to develop a battery charger circuit using a Silicon-Controlled Rectifier (SCR) and a 555 timer. The SCR will act as a switch to regulate the current flow, while the 555 timer will control the charging process by generating precise timing signals. </a:t>
            </a:r>
            <a:endParaRPr lang="en-GB" sz="2000" dirty="0">
              <a:solidFill>
                <a:srgbClr val="000000"/>
              </a:solidFill>
            </a:endParaRPr>
          </a:p>
        </p:txBody>
      </p:sp>
    </p:spTree>
    <p:extLst>
      <p:ext uri="{BB962C8B-B14F-4D97-AF65-F5344CB8AC3E}">
        <p14:creationId xmlns:p14="http://schemas.microsoft.com/office/powerpoint/2010/main" val="1198310589"/>
      </p:ext>
    </p:extLst>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B6D8522-EF70-75ED-8771-474E9267D06D}"/>
              </a:ext>
            </a:extLst>
          </p:cNvPr>
          <p:cNvSpPr/>
          <p:nvPr/>
        </p:nvSpPr>
        <p:spPr>
          <a:xfrm>
            <a:off x="178887" y="1282498"/>
            <a:ext cx="11783962" cy="498663"/>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50000"/>
              </a:lnSpc>
            </a:pPr>
            <a:r>
              <a:rPr lang="en-IN" sz="2000" b="1" dirty="0">
                <a:latin typeface="Times New Roman" panose="02020603050405020304" pitchFamily="18" charset="0"/>
                <a:cs typeface="Times New Roman" panose="02020603050405020304" pitchFamily="18" charset="0"/>
              </a:rPr>
              <a:t>IDENTIFICATION OF ALTERNATE SOLUTIONS</a:t>
            </a:r>
          </a:p>
        </p:txBody>
      </p:sp>
      <p:pic>
        <p:nvPicPr>
          <p:cNvPr id="8" name="Picture 7">
            <a:extLst>
              <a:ext uri="{FF2B5EF4-FFF2-40B4-BE49-F238E27FC236}">
                <a16:creationId xmlns:a16="http://schemas.microsoft.com/office/drawing/2014/main" id="{AACC1C39-0252-6927-4745-4FF3028C0EC0}"/>
              </a:ext>
            </a:extLst>
          </p:cNvPr>
          <p:cNvPicPr>
            <a:picLocks noChangeAspect="1"/>
          </p:cNvPicPr>
          <p:nvPr/>
        </p:nvPicPr>
        <p:blipFill>
          <a:blip r:embed="rId2" cstate="print"/>
          <a:srcRect t="20925" b="14217"/>
          <a:stretch>
            <a:fillRect/>
          </a:stretch>
        </p:blipFill>
        <p:spPr>
          <a:xfrm>
            <a:off x="235983" y="176984"/>
            <a:ext cx="2816934" cy="958645"/>
          </a:xfrm>
          <a:prstGeom prst="rect">
            <a:avLst/>
          </a:prstGeom>
        </p:spPr>
      </p:pic>
      <p:pic>
        <p:nvPicPr>
          <p:cNvPr id="9" name="Picture 8">
            <a:extLst>
              <a:ext uri="{FF2B5EF4-FFF2-40B4-BE49-F238E27FC236}">
                <a16:creationId xmlns:a16="http://schemas.microsoft.com/office/drawing/2014/main" id="{B4623304-5C5F-A8A9-DE75-3BFF4F106A5A}"/>
              </a:ext>
            </a:extLst>
          </p:cNvPr>
          <p:cNvPicPr>
            <a:picLocks noChangeAspect="1"/>
          </p:cNvPicPr>
          <p:nvPr/>
        </p:nvPicPr>
        <p:blipFill rotWithShape="1">
          <a:blip r:embed="rId3"/>
          <a:srcRect l="17820" r="18861"/>
          <a:stretch/>
        </p:blipFill>
        <p:spPr>
          <a:xfrm>
            <a:off x="11282517" y="191728"/>
            <a:ext cx="680332" cy="635895"/>
          </a:xfrm>
          <a:prstGeom prst="rect">
            <a:avLst/>
          </a:prstGeom>
        </p:spPr>
      </p:pic>
      <p:pic>
        <p:nvPicPr>
          <p:cNvPr id="10" name="Picture 9"/>
          <p:cNvPicPr>
            <a:picLocks noChangeAspect="1"/>
          </p:cNvPicPr>
          <p:nvPr/>
        </p:nvPicPr>
        <p:blipFill>
          <a:blip r:embed="rId4" cstate="print"/>
          <a:stretch>
            <a:fillRect/>
          </a:stretch>
        </p:blipFill>
        <p:spPr>
          <a:xfrm>
            <a:off x="5928852" y="269154"/>
            <a:ext cx="979948" cy="736822"/>
          </a:xfrm>
          <a:prstGeom prst="rect">
            <a:avLst/>
          </a:prstGeom>
        </p:spPr>
      </p:pic>
      <p:sp>
        <p:nvSpPr>
          <p:cNvPr id="7" name="TextBox 6">
            <a:extLst>
              <a:ext uri="{FF2B5EF4-FFF2-40B4-BE49-F238E27FC236}">
                <a16:creationId xmlns:a16="http://schemas.microsoft.com/office/drawing/2014/main" id="{B3D4A704-58FA-4546-30B9-B41E2D5F4A9D}"/>
              </a:ext>
            </a:extLst>
          </p:cNvPr>
          <p:cNvSpPr txBox="1"/>
          <p:nvPr/>
        </p:nvSpPr>
        <p:spPr>
          <a:xfrm>
            <a:off x="435759" y="2159836"/>
            <a:ext cx="11270217" cy="3785652"/>
          </a:xfrm>
          <a:prstGeom prst="rect">
            <a:avLst/>
          </a:prstGeom>
          <a:noFill/>
        </p:spPr>
        <p:txBody>
          <a:bodyPr wrap="square">
            <a:spAutoFit/>
          </a:bodyPr>
          <a:lstStyle/>
          <a:p>
            <a:pPr marL="285750" indent="-285750" algn="just">
              <a:buFont typeface="Wingdings" panose="05000000000000000000" pitchFamily="2" charset="2"/>
              <a:buChar char="Ø"/>
            </a:pPr>
            <a:endParaRPr lang="en-US" sz="2000" b="1" dirty="0">
              <a:solidFill>
                <a:srgbClr val="000000"/>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sz="2000" b="1" dirty="0">
                <a:solidFill>
                  <a:srgbClr val="000000"/>
                </a:solidFill>
                <a:latin typeface="Times New Roman" panose="02020603050405020304" pitchFamily="18" charset="0"/>
                <a:cs typeface="Times New Roman" panose="02020603050405020304" pitchFamily="18" charset="0"/>
              </a:rPr>
              <a:t>Microcontroller-</a:t>
            </a:r>
            <a:r>
              <a:rPr lang="en-GB" sz="2000" b="1" dirty="0">
                <a:solidFill>
                  <a:srgbClr val="000000"/>
                </a:solidFill>
                <a:latin typeface="Times New Roman" panose="02020603050405020304" pitchFamily="18" charset="0"/>
                <a:cs typeface="Times New Roman" panose="02020603050405020304" pitchFamily="18" charset="0"/>
              </a:rPr>
              <a:t>Based Charger</a:t>
            </a:r>
            <a:r>
              <a:rPr lang="en-GB" sz="2000" dirty="0">
                <a:solidFill>
                  <a:srgbClr val="000000"/>
                </a:solidFill>
                <a:latin typeface="Times New Roman" panose="02020603050405020304" pitchFamily="18" charset="0"/>
                <a:cs typeface="Times New Roman" panose="02020603050405020304" pitchFamily="18" charset="0"/>
              </a:rPr>
              <a:t>:</a:t>
            </a:r>
          </a:p>
          <a:p>
            <a:pPr algn="just"/>
            <a:r>
              <a:rPr lang="en-GB" sz="2000" dirty="0">
                <a:solidFill>
                  <a:srgbClr val="000000"/>
                </a:solidFill>
                <a:latin typeface="Times New Roman" panose="02020603050405020304" pitchFamily="18" charset="0"/>
                <a:cs typeface="Times New Roman" panose="02020603050405020304" pitchFamily="18" charset="0"/>
              </a:rPr>
              <a:t>                   Uses a microcontroller to monitor and control the charging process. It offers precise control and can handle different battery types, but is more complex and costly.</a:t>
            </a:r>
          </a:p>
          <a:p>
            <a:pPr marL="342900" indent="-342900" algn="just">
              <a:buFont typeface="Wingdings" charset="2"/>
              <a:buChar char="l"/>
            </a:pPr>
            <a:endParaRPr lang="en-GB" sz="2000" dirty="0">
              <a:solidFill>
                <a:srgbClr val="000000"/>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GB" sz="2000" b="1" dirty="0">
                <a:solidFill>
                  <a:srgbClr val="000000"/>
                </a:solidFill>
                <a:latin typeface="Times New Roman" panose="02020603050405020304" pitchFamily="18" charset="0"/>
                <a:cs typeface="Times New Roman" panose="02020603050405020304" pitchFamily="18" charset="0"/>
              </a:rPr>
              <a:t>SMPS-Based Charger:</a:t>
            </a:r>
          </a:p>
          <a:p>
            <a:pPr algn="just"/>
            <a:r>
              <a:rPr lang="en-GB" sz="2000" b="1" dirty="0">
                <a:solidFill>
                  <a:srgbClr val="000000"/>
                </a:solidFill>
                <a:latin typeface="Times New Roman" panose="02020603050405020304" pitchFamily="18" charset="0"/>
                <a:cs typeface="Times New Roman" panose="02020603050405020304" pitchFamily="18" charset="0"/>
              </a:rPr>
              <a:t>                  </a:t>
            </a:r>
            <a:r>
              <a:rPr lang="en-GB" sz="2000" dirty="0">
                <a:solidFill>
                  <a:srgbClr val="000000"/>
                </a:solidFill>
                <a:latin typeface="Times New Roman" panose="02020603050405020304" pitchFamily="18" charset="0"/>
                <a:cs typeface="Times New Roman" panose="02020603050405020304" pitchFamily="18" charset="0"/>
              </a:rPr>
              <a:t>Highly efficient, lightweight, and compact charger that uses high-frequency switching. Ideal for fast charging but more complex and expensive to design.</a:t>
            </a:r>
          </a:p>
          <a:p>
            <a:pPr marL="342900" indent="-342900" algn="just">
              <a:buFont typeface="Wingdings" charset="2"/>
              <a:buChar char="l"/>
            </a:pPr>
            <a:endParaRPr lang="en-GB" sz="2000" dirty="0">
              <a:solidFill>
                <a:srgbClr val="000000"/>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GB" sz="2000" b="1" dirty="0">
                <a:solidFill>
                  <a:srgbClr val="000000"/>
                </a:solidFill>
                <a:latin typeface="Times New Roman" panose="02020603050405020304" pitchFamily="18" charset="0"/>
                <a:cs typeface="Times New Roman" panose="02020603050405020304" pitchFamily="18" charset="0"/>
              </a:rPr>
              <a:t>CC-CV Charger (Constant Current-Constant Voltage)</a:t>
            </a:r>
            <a:r>
              <a:rPr lang="en-GB" sz="2000" dirty="0">
                <a:solidFill>
                  <a:srgbClr val="000000"/>
                </a:solidFill>
                <a:latin typeface="Times New Roman" panose="02020603050405020304" pitchFamily="18" charset="0"/>
                <a:cs typeface="Times New Roman" panose="02020603050405020304" pitchFamily="18" charset="0"/>
              </a:rPr>
              <a:t>:</a:t>
            </a:r>
          </a:p>
          <a:p>
            <a:pPr algn="just"/>
            <a:r>
              <a:rPr lang="en-GB" sz="2000" dirty="0">
                <a:solidFill>
                  <a:srgbClr val="000000"/>
                </a:solidFill>
                <a:latin typeface="Times New Roman" panose="02020603050405020304" pitchFamily="18" charset="0"/>
                <a:cs typeface="Times New Roman" panose="02020603050405020304" pitchFamily="18" charset="0"/>
              </a:rPr>
              <a:t>                 Maintains a steady current and switches to steady voltage when needed, commonly used for lithium batteries. It's effective but requires careful monitoring.</a:t>
            </a:r>
          </a:p>
        </p:txBody>
      </p:sp>
    </p:spTree>
    <p:extLst>
      <p:ext uri="{BB962C8B-B14F-4D97-AF65-F5344CB8AC3E}">
        <p14:creationId xmlns:p14="http://schemas.microsoft.com/office/powerpoint/2010/main" val="1198310589"/>
      </p:ext>
    </p:extLst>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B6D8522-EF70-75ED-8771-474E9267D06D}"/>
              </a:ext>
            </a:extLst>
          </p:cNvPr>
          <p:cNvSpPr/>
          <p:nvPr/>
        </p:nvSpPr>
        <p:spPr>
          <a:xfrm>
            <a:off x="206477" y="1287292"/>
            <a:ext cx="11783962" cy="498663"/>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50000"/>
              </a:lnSpc>
            </a:pPr>
            <a:r>
              <a:rPr lang="en-IN" sz="2000" b="1" dirty="0">
                <a:latin typeface="Times New Roman" panose="02020603050405020304" pitchFamily="18" charset="0"/>
                <a:cs typeface="Times New Roman" panose="02020603050405020304" pitchFamily="18" charset="0"/>
              </a:rPr>
              <a:t>PROJECT OBJECTIVES</a:t>
            </a:r>
          </a:p>
        </p:txBody>
      </p:sp>
      <p:pic>
        <p:nvPicPr>
          <p:cNvPr id="8" name="Picture 7">
            <a:extLst>
              <a:ext uri="{FF2B5EF4-FFF2-40B4-BE49-F238E27FC236}">
                <a16:creationId xmlns:a16="http://schemas.microsoft.com/office/drawing/2014/main" id="{AACC1C39-0252-6927-4745-4FF3028C0EC0}"/>
              </a:ext>
            </a:extLst>
          </p:cNvPr>
          <p:cNvPicPr>
            <a:picLocks noChangeAspect="1"/>
          </p:cNvPicPr>
          <p:nvPr/>
        </p:nvPicPr>
        <p:blipFill>
          <a:blip r:embed="rId2" cstate="print"/>
          <a:srcRect t="20925" b="14217"/>
          <a:stretch>
            <a:fillRect/>
          </a:stretch>
        </p:blipFill>
        <p:spPr>
          <a:xfrm>
            <a:off x="235983" y="176984"/>
            <a:ext cx="2816934" cy="958645"/>
          </a:xfrm>
          <a:prstGeom prst="rect">
            <a:avLst/>
          </a:prstGeom>
        </p:spPr>
      </p:pic>
      <p:pic>
        <p:nvPicPr>
          <p:cNvPr id="9" name="Picture 8">
            <a:extLst>
              <a:ext uri="{FF2B5EF4-FFF2-40B4-BE49-F238E27FC236}">
                <a16:creationId xmlns:a16="http://schemas.microsoft.com/office/drawing/2014/main" id="{B4623304-5C5F-A8A9-DE75-3BFF4F106A5A}"/>
              </a:ext>
            </a:extLst>
          </p:cNvPr>
          <p:cNvPicPr>
            <a:picLocks noChangeAspect="1"/>
          </p:cNvPicPr>
          <p:nvPr/>
        </p:nvPicPr>
        <p:blipFill rotWithShape="1">
          <a:blip r:embed="rId3"/>
          <a:srcRect l="17820" r="18861"/>
          <a:stretch/>
        </p:blipFill>
        <p:spPr>
          <a:xfrm>
            <a:off x="11282517" y="191728"/>
            <a:ext cx="680332" cy="635895"/>
          </a:xfrm>
          <a:prstGeom prst="rect">
            <a:avLst/>
          </a:prstGeom>
        </p:spPr>
      </p:pic>
      <p:pic>
        <p:nvPicPr>
          <p:cNvPr id="10" name="Picture 9"/>
          <p:cNvPicPr>
            <a:picLocks noChangeAspect="1"/>
          </p:cNvPicPr>
          <p:nvPr/>
        </p:nvPicPr>
        <p:blipFill>
          <a:blip r:embed="rId4" cstate="print"/>
          <a:stretch>
            <a:fillRect/>
          </a:stretch>
        </p:blipFill>
        <p:spPr>
          <a:xfrm>
            <a:off x="5928852" y="269154"/>
            <a:ext cx="979948" cy="736822"/>
          </a:xfrm>
          <a:prstGeom prst="rect">
            <a:avLst/>
          </a:prstGeom>
        </p:spPr>
      </p:pic>
      <p:sp>
        <p:nvSpPr>
          <p:cNvPr id="7" name="TextBox 6">
            <a:extLst>
              <a:ext uri="{FF2B5EF4-FFF2-40B4-BE49-F238E27FC236}">
                <a16:creationId xmlns:a16="http://schemas.microsoft.com/office/drawing/2014/main" id="{145AA0BC-DF8C-7994-1A55-0DD0AE8EAFE9}"/>
              </a:ext>
            </a:extLst>
          </p:cNvPr>
          <p:cNvSpPr txBox="1"/>
          <p:nvPr/>
        </p:nvSpPr>
        <p:spPr>
          <a:xfrm>
            <a:off x="567271" y="1937618"/>
            <a:ext cx="11308492" cy="4093428"/>
          </a:xfrm>
          <a:prstGeom prst="rect">
            <a:avLst/>
          </a:prstGeom>
          <a:noFill/>
        </p:spPr>
        <p:txBody>
          <a:bodyPr wrap="square">
            <a:spAutoFit/>
          </a:bodyPr>
          <a:lstStyle/>
          <a:p>
            <a:pPr algn="just"/>
            <a:endParaRPr lang="en-GB" sz="2000" i="1" dirty="0">
              <a:solidFill>
                <a:srgbClr val="000000"/>
              </a:solidFill>
              <a:latin typeface="Times New Roman" panose="02020603050405020304" pitchFamily="18" charset="0"/>
              <a:cs typeface="Times New Roman" panose="02020603050405020304" pitchFamily="18" charset="0"/>
            </a:endParaRPr>
          </a:p>
          <a:p>
            <a:pPr algn="just"/>
            <a:endParaRPr lang="en-GB" sz="2000" i="1" dirty="0">
              <a:solidFill>
                <a:srgbClr val="000000"/>
              </a:solidFill>
              <a:latin typeface="Times New Roman" panose="02020603050405020304" pitchFamily="18" charset="0"/>
              <a:cs typeface="Times New Roman" panose="02020603050405020304" pitchFamily="18" charset="0"/>
            </a:endParaRPr>
          </a:p>
          <a:p>
            <a:pPr algn="just"/>
            <a:r>
              <a:rPr lang="en-GB" sz="2000" i="1" dirty="0">
                <a:solidFill>
                  <a:srgbClr val="000000"/>
                </a:solidFill>
                <a:latin typeface="Times New Roman" panose="02020603050405020304" pitchFamily="18" charset="0"/>
                <a:cs typeface="Times New Roman" panose="02020603050405020304" pitchFamily="18" charset="0"/>
              </a:rPr>
              <a:t>The objective of this project is to design and create an affordable, efficient battery charger using an SCR and a 555 timer. This charger will solve common problems with traditional chargers, like overcharging, energy waste, and shorter battery life, by precisely controlling the charging process.</a:t>
            </a:r>
          </a:p>
          <a:p>
            <a:pPr marL="342900" indent="-342900" algn="just">
              <a:buFont typeface="Wingdings" charset="2"/>
              <a:buChar char="l"/>
            </a:pPr>
            <a:endParaRPr lang="en-GB" sz="2000" i="1" dirty="0">
              <a:solidFill>
                <a:srgbClr val="000000"/>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GB" sz="2000" b="1" dirty="0">
                <a:solidFill>
                  <a:srgbClr val="000000"/>
                </a:solidFill>
                <a:latin typeface="Times New Roman" panose="02020603050405020304" pitchFamily="18" charset="0"/>
                <a:cs typeface="Times New Roman" panose="02020603050405020304" pitchFamily="18" charset="0"/>
              </a:rPr>
              <a:t>Control of Charging Current:</a:t>
            </a:r>
          </a:p>
          <a:p>
            <a:pPr algn="just"/>
            <a:r>
              <a:rPr lang="en-GB" sz="2000" dirty="0">
                <a:solidFill>
                  <a:srgbClr val="000000"/>
                </a:solidFill>
                <a:latin typeface="Times New Roman" panose="02020603050405020304" pitchFamily="18" charset="0"/>
                <a:cs typeface="Times New Roman" panose="02020603050405020304" pitchFamily="18" charset="0"/>
              </a:rPr>
              <a:t>            The SCR will act as a switch to manage the current flow, while the 555 timer will control when to turn the SCR on and off, ensuring the battery gets just the right amount of charge.</a:t>
            </a:r>
          </a:p>
          <a:p>
            <a:pPr marL="342900" indent="-342900" algn="just">
              <a:buFont typeface="Wingdings" charset="2"/>
              <a:buChar char="l"/>
            </a:pPr>
            <a:endParaRPr lang="en-GB" sz="2000" dirty="0">
              <a:solidFill>
                <a:srgbClr val="000000"/>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GB" sz="2000" b="1" dirty="0">
                <a:solidFill>
                  <a:srgbClr val="000000"/>
                </a:solidFill>
                <a:latin typeface="Times New Roman" panose="02020603050405020304" pitchFamily="18" charset="0"/>
                <a:cs typeface="Times New Roman" panose="02020603050405020304" pitchFamily="18" charset="0"/>
              </a:rPr>
              <a:t>Prevention of Overcharging:</a:t>
            </a:r>
          </a:p>
          <a:p>
            <a:pPr algn="just"/>
            <a:r>
              <a:rPr lang="en-GB" sz="2000" dirty="0">
                <a:solidFill>
                  <a:srgbClr val="000000"/>
                </a:solidFill>
                <a:latin typeface="Times New Roman" panose="02020603050405020304" pitchFamily="18" charset="0"/>
                <a:cs typeface="Times New Roman" panose="02020603050405020304" pitchFamily="18" charset="0"/>
              </a:rPr>
              <a:t>            The charger will stop or reduce the current once the battery is full, preventing overcharging, which can damage the battery and reduce its lifespan.</a:t>
            </a:r>
          </a:p>
        </p:txBody>
      </p:sp>
    </p:spTree>
    <p:extLst>
      <p:ext uri="{BB962C8B-B14F-4D97-AF65-F5344CB8AC3E}">
        <p14:creationId xmlns:p14="http://schemas.microsoft.com/office/powerpoint/2010/main" val="1198310589"/>
      </p:ext>
    </p:extLst>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B6D8522-EF70-75ED-8771-474E9267D06D}"/>
              </a:ext>
            </a:extLst>
          </p:cNvPr>
          <p:cNvSpPr/>
          <p:nvPr/>
        </p:nvSpPr>
        <p:spPr>
          <a:xfrm>
            <a:off x="206477" y="1287292"/>
            <a:ext cx="11783962" cy="498663"/>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50000"/>
              </a:lnSpc>
            </a:pPr>
            <a:r>
              <a:rPr lang="en-IN" sz="2000" b="1" dirty="0">
                <a:latin typeface="Times New Roman" panose="02020603050405020304" pitchFamily="18" charset="0"/>
                <a:cs typeface="Times New Roman" panose="02020603050405020304" pitchFamily="18" charset="0"/>
              </a:rPr>
              <a:t>PROJECT OBJECTIVES</a:t>
            </a:r>
          </a:p>
        </p:txBody>
      </p:sp>
      <p:pic>
        <p:nvPicPr>
          <p:cNvPr id="8" name="Picture 7">
            <a:extLst>
              <a:ext uri="{FF2B5EF4-FFF2-40B4-BE49-F238E27FC236}">
                <a16:creationId xmlns:a16="http://schemas.microsoft.com/office/drawing/2014/main" id="{AACC1C39-0252-6927-4745-4FF3028C0EC0}"/>
              </a:ext>
            </a:extLst>
          </p:cNvPr>
          <p:cNvPicPr>
            <a:picLocks noChangeAspect="1"/>
          </p:cNvPicPr>
          <p:nvPr/>
        </p:nvPicPr>
        <p:blipFill>
          <a:blip r:embed="rId2" cstate="print"/>
          <a:srcRect t="20925" b="14217"/>
          <a:stretch>
            <a:fillRect/>
          </a:stretch>
        </p:blipFill>
        <p:spPr>
          <a:xfrm>
            <a:off x="235983" y="176984"/>
            <a:ext cx="2816934" cy="958645"/>
          </a:xfrm>
          <a:prstGeom prst="rect">
            <a:avLst/>
          </a:prstGeom>
        </p:spPr>
      </p:pic>
      <p:pic>
        <p:nvPicPr>
          <p:cNvPr id="9" name="Picture 8">
            <a:extLst>
              <a:ext uri="{FF2B5EF4-FFF2-40B4-BE49-F238E27FC236}">
                <a16:creationId xmlns:a16="http://schemas.microsoft.com/office/drawing/2014/main" id="{B4623304-5C5F-A8A9-DE75-3BFF4F106A5A}"/>
              </a:ext>
            </a:extLst>
          </p:cNvPr>
          <p:cNvPicPr>
            <a:picLocks noChangeAspect="1"/>
          </p:cNvPicPr>
          <p:nvPr/>
        </p:nvPicPr>
        <p:blipFill rotWithShape="1">
          <a:blip r:embed="rId3"/>
          <a:srcRect l="17820" r="18861"/>
          <a:stretch/>
        </p:blipFill>
        <p:spPr>
          <a:xfrm>
            <a:off x="11282517" y="191728"/>
            <a:ext cx="680332" cy="635895"/>
          </a:xfrm>
          <a:prstGeom prst="rect">
            <a:avLst/>
          </a:prstGeom>
        </p:spPr>
      </p:pic>
      <p:pic>
        <p:nvPicPr>
          <p:cNvPr id="10" name="Picture 9"/>
          <p:cNvPicPr>
            <a:picLocks noChangeAspect="1"/>
          </p:cNvPicPr>
          <p:nvPr/>
        </p:nvPicPr>
        <p:blipFill>
          <a:blip r:embed="rId4" cstate="print"/>
          <a:stretch>
            <a:fillRect/>
          </a:stretch>
        </p:blipFill>
        <p:spPr>
          <a:xfrm>
            <a:off x="5928852" y="269154"/>
            <a:ext cx="979948" cy="736822"/>
          </a:xfrm>
          <a:prstGeom prst="rect">
            <a:avLst/>
          </a:prstGeom>
        </p:spPr>
      </p:pic>
      <p:sp>
        <p:nvSpPr>
          <p:cNvPr id="7" name="TextBox 6">
            <a:extLst>
              <a:ext uri="{FF2B5EF4-FFF2-40B4-BE49-F238E27FC236}">
                <a16:creationId xmlns:a16="http://schemas.microsoft.com/office/drawing/2014/main" id="{C67A05AA-5050-D326-6A6F-96F9AF74540B}"/>
              </a:ext>
            </a:extLst>
          </p:cNvPr>
          <p:cNvSpPr txBox="1"/>
          <p:nvPr/>
        </p:nvSpPr>
        <p:spPr>
          <a:xfrm>
            <a:off x="409795" y="1964353"/>
            <a:ext cx="11038114" cy="4093428"/>
          </a:xfrm>
          <a:prstGeom prst="rect">
            <a:avLst/>
          </a:prstGeom>
          <a:noFill/>
        </p:spPr>
        <p:txBody>
          <a:bodyPr wrap="square">
            <a:spAutoFit/>
          </a:bodyPr>
          <a:lstStyle/>
          <a:p>
            <a:pPr marL="285750" indent="-285750" algn="just">
              <a:buFont typeface="Wingdings" panose="05000000000000000000" pitchFamily="2" charset="2"/>
              <a:buChar char="Ø"/>
            </a:pPr>
            <a:endParaRPr lang="en-GB" sz="2000" b="1" dirty="0">
              <a:solidFill>
                <a:srgbClr val="000000"/>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endParaRPr lang="en-GB" sz="2000" b="1" dirty="0">
              <a:solidFill>
                <a:srgbClr val="000000"/>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GB" sz="2000" b="1" dirty="0">
                <a:solidFill>
                  <a:srgbClr val="000000"/>
                </a:solidFill>
                <a:latin typeface="Times New Roman" panose="02020603050405020304" pitchFamily="18" charset="0"/>
                <a:cs typeface="Times New Roman" panose="02020603050405020304" pitchFamily="18" charset="0"/>
              </a:rPr>
              <a:t>Support for Different Battery Types:</a:t>
            </a:r>
          </a:p>
          <a:p>
            <a:pPr algn="just"/>
            <a:r>
              <a:rPr lang="en-GB" sz="2000" dirty="0">
                <a:solidFill>
                  <a:srgbClr val="000000"/>
                </a:solidFill>
                <a:latin typeface="Times New Roman" panose="02020603050405020304" pitchFamily="18" charset="0"/>
                <a:cs typeface="Times New Roman" panose="02020603050405020304" pitchFamily="18" charset="0"/>
              </a:rPr>
              <a:t>           The charger will work for various rechargeable batteries, like lead-acid, lithium-ion, and nickel-cadmium, with adjustable settings for different battery needs.</a:t>
            </a:r>
          </a:p>
          <a:p>
            <a:pPr marL="342900" indent="-342900" algn="just">
              <a:buFont typeface="Wingdings" charset="2"/>
              <a:buChar char="l"/>
            </a:pPr>
            <a:endParaRPr lang="en-GB" sz="2000" dirty="0">
              <a:solidFill>
                <a:srgbClr val="000000"/>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GB" sz="2000" b="1" dirty="0">
                <a:solidFill>
                  <a:srgbClr val="000000"/>
                </a:solidFill>
                <a:latin typeface="Times New Roman" panose="02020603050405020304" pitchFamily="18" charset="0"/>
                <a:cs typeface="Times New Roman" panose="02020603050405020304" pitchFamily="18" charset="0"/>
              </a:rPr>
              <a:t>Cost-Effective Design:</a:t>
            </a:r>
          </a:p>
          <a:p>
            <a:pPr algn="just"/>
            <a:r>
              <a:rPr lang="en-GB" sz="2000" dirty="0">
                <a:solidFill>
                  <a:srgbClr val="000000"/>
                </a:solidFill>
                <a:latin typeface="Times New Roman" panose="02020603050405020304" pitchFamily="18" charset="0"/>
                <a:cs typeface="Times New Roman" panose="02020603050405020304" pitchFamily="18" charset="0"/>
              </a:rPr>
              <a:t>           By using simple components like SCRs and 555 timers, the charger will be low-cost but still reliable, making it a good option for different applications</a:t>
            </a:r>
            <a:r>
              <a:rPr lang="en-US" sz="2000" dirty="0">
                <a:solidFill>
                  <a:srgbClr val="000000"/>
                </a:solidFill>
                <a:latin typeface="Times New Roman" panose="02020603050405020304" pitchFamily="18" charset="0"/>
                <a:cs typeface="Times New Roman" panose="02020603050405020304" pitchFamily="18" charset="0"/>
              </a:rPr>
              <a:t> and energy efficiency.</a:t>
            </a:r>
            <a:endParaRPr lang="en-GB" sz="2000" dirty="0">
              <a:solidFill>
                <a:srgbClr val="000000"/>
              </a:solidFill>
              <a:latin typeface="Times New Roman" panose="02020603050405020304" pitchFamily="18" charset="0"/>
              <a:cs typeface="Times New Roman" panose="02020603050405020304" pitchFamily="18" charset="0"/>
            </a:endParaRPr>
          </a:p>
          <a:p>
            <a:pPr marL="342900" indent="-342900" algn="just">
              <a:buFont typeface="Wingdings" charset="2"/>
              <a:buChar char="l"/>
            </a:pPr>
            <a:endParaRPr lang="en-GB" sz="2000" dirty="0">
              <a:solidFill>
                <a:srgbClr val="000000"/>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GB" sz="2000" b="1" dirty="0">
                <a:solidFill>
                  <a:srgbClr val="000000"/>
                </a:solidFill>
                <a:latin typeface="Times New Roman" panose="02020603050405020304" pitchFamily="18" charset="0"/>
                <a:cs typeface="Times New Roman" panose="02020603050405020304" pitchFamily="18" charset="0"/>
              </a:rPr>
              <a:t>Safety Features:</a:t>
            </a:r>
          </a:p>
          <a:p>
            <a:pPr algn="just"/>
            <a:r>
              <a:rPr lang="en-GB" sz="2000" dirty="0">
                <a:solidFill>
                  <a:srgbClr val="000000"/>
                </a:solidFill>
                <a:latin typeface="Times New Roman" panose="02020603050405020304" pitchFamily="18" charset="0"/>
                <a:cs typeface="Times New Roman" panose="02020603050405020304" pitchFamily="18" charset="0"/>
              </a:rPr>
              <a:t>          The charger will include protection mechanisms against issues like short circuits, overheating, and overvoltage, keeping both the battery and the charger safe during use.</a:t>
            </a:r>
          </a:p>
        </p:txBody>
      </p:sp>
    </p:spTree>
    <p:extLst>
      <p:ext uri="{BB962C8B-B14F-4D97-AF65-F5344CB8AC3E}">
        <p14:creationId xmlns:p14="http://schemas.microsoft.com/office/powerpoint/2010/main" val="685126381"/>
      </p:ext>
    </p:extLst>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B6D8522-EF70-75ED-8771-474E9267D06D}"/>
              </a:ext>
            </a:extLst>
          </p:cNvPr>
          <p:cNvSpPr/>
          <p:nvPr/>
        </p:nvSpPr>
        <p:spPr>
          <a:xfrm>
            <a:off x="206477" y="1287292"/>
            <a:ext cx="11783962" cy="498663"/>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50000"/>
              </a:lnSpc>
            </a:pPr>
            <a:r>
              <a:rPr lang="en-US" sz="2000" b="1" dirty="0">
                <a:latin typeface="Times New Roman" panose="02020603050405020304" pitchFamily="18" charset="0"/>
                <a:cs typeface="Times New Roman" panose="02020603050405020304" pitchFamily="18" charset="0"/>
              </a:rPr>
              <a:t>CIRCUIT DIAGRAM</a:t>
            </a:r>
          </a:p>
        </p:txBody>
      </p:sp>
      <p:pic>
        <p:nvPicPr>
          <p:cNvPr id="8" name="Picture 7">
            <a:extLst>
              <a:ext uri="{FF2B5EF4-FFF2-40B4-BE49-F238E27FC236}">
                <a16:creationId xmlns:a16="http://schemas.microsoft.com/office/drawing/2014/main" id="{AACC1C39-0252-6927-4745-4FF3028C0EC0}"/>
              </a:ext>
            </a:extLst>
          </p:cNvPr>
          <p:cNvPicPr>
            <a:picLocks noChangeAspect="1"/>
          </p:cNvPicPr>
          <p:nvPr/>
        </p:nvPicPr>
        <p:blipFill>
          <a:blip r:embed="rId2" cstate="print"/>
          <a:srcRect t="20925" b="14217"/>
          <a:stretch>
            <a:fillRect/>
          </a:stretch>
        </p:blipFill>
        <p:spPr>
          <a:xfrm>
            <a:off x="235983" y="176984"/>
            <a:ext cx="2816934" cy="958645"/>
          </a:xfrm>
          <a:prstGeom prst="rect">
            <a:avLst/>
          </a:prstGeom>
        </p:spPr>
      </p:pic>
      <p:pic>
        <p:nvPicPr>
          <p:cNvPr id="9" name="Picture 8">
            <a:extLst>
              <a:ext uri="{FF2B5EF4-FFF2-40B4-BE49-F238E27FC236}">
                <a16:creationId xmlns:a16="http://schemas.microsoft.com/office/drawing/2014/main" id="{B4623304-5C5F-A8A9-DE75-3BFF4F106A5A}"/>
              </a:ext>
            </a:extLst>
          </p:cNvPr>
          <p:cNvPicPr>
            <a:picLocks noChangeAspect="1"/>
          </p:cNvPicPr>
          <p:nvPr/>
        </p:nvPicPr>
        <p:blipFill rotWithShape="1">
          <a:blip r:embed="rId3"/>
          <a:srcRect l="17820" r="18861"/>
          <a:stretch/>
        </p:blipFill>
        <p:spPr>
          <a:xfrm>
            <a:off x="11282517" y="191728"/>
            <a:ext cx="680332" cy="635895"/>
          </a:xfrm>
          <a:prstGeom prst="rect">
            <a:avLst/>
          </a:prstGeom>
        </p:spPr>
      </p:pic>
      <p:pic>
        <p:nvPicPr>
          <p:cNvPr id="10" name="Picture 9"/>
          <p:cNvPicPr>
            <a:picLocks noChangeAspect="1"/>
          </p:cNvPicPr>
          <p:nvPr/>
        </p:nvPicPr>
        <p:blipFill>
          <a:blip r:embed="rId4" cstate="print"/>
          <a:stretch>
            <a:fillRect/>
          </a:stretch>
        </p:blipFill>
        <p:spPr>
          <a:xfrm>
            <a:off x="5928852" y="269154"/>
            <a:ext cx="979948" cy="736822"/>
          </a:xfrm>
          <a:prstGeom prst="rect">
            <a:avLst/>
          </a:prstGeom>
        </p:spPr>
      </p:pic>
      <p:pic>
        <p:nvPicPr>
          <p:cNvPr id="2" name="Picture 1">
            <a:extLst>
              <a:ext uri="{FF2B5EF4-FFF2-40B4-BE49-F238E27FC236}">
                <a16:creationId xmlns:a16="http://schemas.microsoft.com/office/drawing/2014/main" id="{066130BF-1D3A-324C-6DA1-CC382498A183}"/>
              </a:ext>
            </a:extLst>
          </p:cNvPr>
          <p:cNvPicPr>
            <a:picLocks noChangeAspect="1"/>
          </p:cNvPicPr>
          <p:nvPr/>
        </p:nvPicPr>
        <p:blipFill>
          <a:blip r:embed="rId5"/>
          <a:stretch>
            <a:fillRect/>
          </a:stretch>
        </p:blipFill>
        <p:spPr>
          <a:xfrm>
            <a:off x="1231641" y="2076602"/>
            <a:ext cx="9330612" cy="4229100"/>
          </a:xfrm>
          <a:prstGeom prst="rect">
            <a:avLst/>
          </a:prstGeom>
        </p:spPr>
      </p:pic>
    </p:spTree>
    <p:extLst>
      <p:ext uri="{BB962C8B-B14F-4D97-AF65-F5344CB8AC3E}">
        <p14:creationId xmlns:p14="http://schemas.microsoft.com/office/powerpoint/2010/main" val="1314386112"/>
      </p:ext>
    </p:extLst>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B6D8522-EF70-75ED-8771-474E9267D06D}"/>
              </a:ext>
            </a:extLst>
          </p:cNvPr>
          <p:cNvSpPr/>
          <p:nvPr/>
        </p:nvSpPr>
        <p:spPr>
          <a:xfrm>
            <a:off x="206477" y="1287292"/>
            <a:ext cx="11783962" cy="498663"/>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50000"/>
              </a:lnSpc>
            </a:pPr>
            <a:r>
              <a:rPr lang="en-IN" sz="2000" b="1" dirty="0">
                <a:latin typeface="Times New Roman" panose="02020603050405020304" pitchFamily="18" charset="0"/>
                <a:cs typeface="Times New Roman" panose="02020603050405020304" pitchFamily="18" charset="0"/>
              </a:rPr>
              <a:t>COMPONENTS USED</a:t>
            </a:r>
            <a:endParaRPr lang="en-US" sz="2000" b="1"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AACC1C39-0252-6927-4745-4FF3028C0EC0}"/>
              </a:ext>
            </a:extLst>
          </p:cNvPr>
          <p:cNvPicPr>
            <a:picLocks noChangeAspect="1"/>
          </p:cNvPicPr>
          <p:nvPr/>
        </p:nvPicPr>
        <p:blipFill>
          <a:blip r:embed="rId2" cstate="print"/>
          <a:srcRect t="20925" b="14217"/>
          <a:stretch>
            <a:fillRect/>
          </a:stretch>
        </p:blipFill>
        <p:spPr>
          <a:xfrm>
            <a:off x="235983" y="176984"/>
            <a:ext cx="2816934" cy="958645"/>
          </a:xfrm>
          <a:prstGeom prst="rect">
            <a:avLst/>
          </a:prstGeom>
        </p:spPr>
      </p:pic>
      <p:pic>
        <p:nvPicPr>
          <p:cNvPr id="9" name="Picture 8">
            <a:extLst>
              <a:ext uri="{FF2B5EF4-FFF2-40B4-BE49-F238E27FC236}">
                <a16:creationId xmlns:a16="http://schemas.microsoft.com/office/drawing/2014/main" id="{B4623304-5C5F-A8A9-DE75-3BFF4F106A5A}"/>
              </a:ext>
            </a:extLst>
          </p:cNvPr>
          <p:cNvPicPr>
            <a:picLocks noChangeAspect="1"/>
          </p:cNvPicPr>
          <p:nvPr/>
        </p:nvPicPr>
        <p:blipFill rotWithShape="1">
          <a:blip r:embed="rId3"/>
          <a:srcRect l="17820" r="18861"/>
          <a:stretch/>
        </p:blipFill>
        <p:spPr>
          <a:xfrm>
            <a:off x="11282517" y="191728"/>
            <a:ext cx="680332" cy="635895"/>
          </a:xfrm>
          <a:prstGeom prst="rect">
            <a:avLst/>
          </a:prstGeom>
        </p:spPr>
      </p:pic>
      <p:pic>
        <p:nvPicPr>
          <p:cNvPr id="10" name="Picture 9"/>
          <p:cNvPicPr>
            <a:picLocks noChangeAspect="1"/>
          </p:cNvPicPr>
          <p:nvPr/>
        </p:nvPicPr>
        <p:blipFill>
          <a:blip r:embed="rId4" cstate="print"/>
          <a:stretch>
            <a:fillRect/>
          </a:stretch>
        </p:blipFill>
        <p:spPr>
          <a:xfrm>
            <a:off x="5928852" y="269154"/>
            <a:ext cx="979948" cy="736822"/>
          </a:xfrm>
          <a:prstGeom prst="rect">
            <a:avLst/>
          </a:prstGeom>
        </p:spPr>
      </p:pic>
      <p:sp>
        <p:nvSpPr>
          <p:cNvPr id="7" name="TextBox 6">
            <a:extLst>
              <a:ext uri="{FF2B5EF4-FFF2-40B4-BE49-F238E27FC236}">
                <a16:creationId xmlns:a16="http://schemas.microsoft.com/office/drawing/2014/main" id="{0491D0E4-DB6A-020D-FA02-5328A00FBFC3}"/>
              </a:ext>
            </a:extLst>
          </p:cNvPr>
          <p:cNvSpPr txBox="1"/>
          <p:nvPr/>
        </p:nvSpPr>
        <p:spPr>
          <a:xfrm>
            <a:off x="812800" y="2337969"/>
            <a:ext cx="8091714" cy="3276282"/>
          </a:xfrm>
          <a:prstGeom prst="rect">
            <a:avLst/>
          </a:prstGeom>
          <a:noFill/>
        </p:spPr>
        <p:txBody>
          <a:bodyPr wrap="square">
            <a:spAutoFit/>
          </a:bodyPr>
          <a:lstStyle/>
          <a:p>
            <a:pPr marL="342900" marR="0" lvl="0" indent="-342900" algn="just"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en-US" sz="2000" b="0" i="0" u="none" strike="noStrike" kern="1200" cap="none" spc="0" normalizeH="0" baseline="0" noProof="0" dirty="0">
                <a:ln>
                  <a:noFill/>
                </a:ln>
                <a:solidFill>
                  <a:prstClr val="black"/>
                </a:solidFill>
                <a:effectLst/>
                <a:uLnTx/>
                <a:uFillTx/>
                <a:ea typeface="+mn-ea"/>
                <a:cs typeface="Times New Roman" panose="02020603050405020304" pitchFamily="18" charset="0"/>
              </a:rPr>
              <a:t>555 Timer</a:t>
            </a:r>
          </a:p>
          <a:p>
            <a:pPr marL="342900" marR="0" lvl="0" indent="-342900" algn="just"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en-US" sz="2000" b="0" i="0" u="none" strike="noStrike" kern="1200" cap="none" spc="0" normalizeH="0" baseline="0" noProof="0" dirty="0">
                <a:ln>
                  <a:noFill/>
                </a:ln>
                <a:solidFill>
                  <a:prstClr val="black"/>
                </a:solidFill>
                <a:effectLst/>
                <a:uLnTx/>
                <a:uFillTx/>
                <a:ea typeface="+mn-ea"/>
                <a:cs typeface="Times New Roman" panose="02020603050405020304" pitchFamily="18" charset="0"/>
              </a:rPr>
              <a:t>Lamp</a:t>
            </a:r>
          </a:p>
          <a:p>
            <a:pPr marL="342900" marR="0" lvl="0" indent="-342900" algn="just"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en-US" sz="2000" b="0" i="0" u="none" strike="noStrike" kern="1200" cap="none" spc="0" normalizeH="0" baseline="0" noProof="0" dirty="0">
                <a:ln>
                  <a:noFill/>
                </a:ln>
                <a:solidFill>
                  <a:prstClr val="black"/>
                </a:solidFill>
                <a:effectLst/>
                <a:uLnTx/>
                <a:uFillTx/>
                <a:ea typeface="+mn-ea"/>
                <a:cs typeface="Times New Roman" panose="02020603050405020304" pitchFamily="18" charset="0"/>
              </a:rPr>
              <a:t>Diode(D1,D2,D3,D4) - </a:t>
            </a:r>
            <a:r>
              <a:rPr lang="en-US" sz="2000" dirty="0">
                <a:solidFill>
                  <a:prstClr val="black"/>
                </a:solidFill>
                <a:cs typeface="Times New Roman" panose="02020603050405020304" pitchFamily="18" charset="0"/>
              </a:rPr>
              <a:t>IN4001</a:t>
            </a:r>
            <a:endParaRPr kumimoji="0" lang="en-US" sz="2000" b="0" i="0" u="none" strike="noStrike" kern="1200" cap="none" spc="0" normalizeH="0" baseline="0" noProof="0" dirty="0">
              <a:ln>
                <a:noFill/>
              </a:ln>
              <a:solidFill>
                <a:prstClr val="black"/>
              </a:solidFill>
              <a:effectLst/>
              <a:uLnTx/>
              <a:uFillTx/>
              <a:ea typeface="+mn-ea"/>
              <a:cs typeface="Times New Roman" panose="02020603050405020304" pitchFamily="18" charset="0"/>
            </a:endParaRPr>
          </a:p>
          <a:p>
            <a:pPr marL="342900" marR="0" lvl="0" indent="-342900" algn="just"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en-US" sz="2000" b="0" i="0" u="none" strike="noStrike" kern="1200" cap="none" spc="0" normalizeH="0" baseline="0" noProof="0" dirty="0">
                <a:ln>
                  <a:noFill/>
                </a:ln>
                <a:solidFill>
                  <a:prstClr val="black"/>
                </a:solidFill>
                <a:effectLst/>
                <a:uLnTx/>
                <a:uFillTx/>
                <a:ea typeface="+mn-ea"/>
                <a:cs typeface="Times New Roman" panose="02020603050405020304" pitchFamily="18" charset="0"/>
              </a:rPr>
              <a:t>Resistor</a:t>
            </a:r>
            <a:r>
              <a:rPr lang="en-US" sz="2000" dirty="0">
                <a:solidFill>
                  <a:prstClr val="black"/>
                </a:solidFill>
                <a:cs typeface="Times New Roman" panose="02020603050405020304" pitchFamily="18" charset="0"/>
              </a:rPr>
              <a:t> - 1k Ohm</a:t>
            </a:r>
            <a:r>
              <a:rPr kumimoji="0" lang="en-US" sz="2000" b="0" i="0" u="none" strike="noStrike" kern="1200" cap="none" spc="0" normalizeH="0" baseline="0" noProof="0" dirty="0">
                <a:ln>
                  <a:noFill/>
                </a:ln>
                <a:solidFill>
                  <a:prstClr val="black"/>
                </a:solidFill>
                <a:effectLst/>
                <a:uLnTx/>
                <a:uFillTx/>
                <a:ea typeface="+mn-ea"/>
                <a:cs typeface="Times New Roman" panose="02020603050405020304" pitchFamily="18" charset="0"/>
              </a:rPr>
              <a:t> </a:t>
            </a:r>
          </a:p>
          <a:p>
            <a:pPr marL="342900" marR="0" lvl="0" indent="-342900" algn="just"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en-US" sz="2000" b="0" i="0" u="none" strike="noStrike" kern="1200" cap="none" spc="0" normalizeH="0" baseline="0" noProof="0" dirty="0">
                <a:ln>
                  <a:noFill/>
                </a:ln>
                <a:solidFill>
                  <a:prstClr val="black"/>
                </a:solidFill>
                <a:effectLst/>
                <a:uLnTx/>
                <a:uFillTx/>
                <a:ea typeface="+mn-ea"/>
                <a:cs typeface="Times New Roman" panose="02020603050405020304" pitchFamily="18" charset="0"/>
              </a:rPr>
              <a:t>Capacitor- 1000F</a:t>
            </a:r>
          </a:p>
          <a:p>
            <a:pPr marL="342900" marR="0" lvl="0" indent="-342900" algn="just"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lang="en-US" sz="2000" dirty="0">
                <a:solidFill>
                  <a:prstClr val="black"/>
                </a:solidFill>
                <a:cs typeface="Times New Roman" panose="02020603050405020304" pitchFamily="18" charset="0"/>
              </a:rPr>
              <a:t>SCR</a:t>
            </a:r>
            <a:endParaRPr kumimoji="0" lang="en-US" sz="2000" b="0" i="0" u="none" strike="noStrike" kern="1200" cap="none" spc="0" normalizeH="0" baseline="0" noProof="0" dirty="0">
              <a:ln>
                <a:noFill/>
              </a:ln>
              <a:solidFill>
                <a:prstClr val="black"/>
              </a:solidFill>
              <a:effectLst/>
              <a:uLnTx/>
              <a:uFillTx/>
              <a:ea typeface="+mn-ea"/>
              <a:cs typeface="Times New Roman" panose="02020603050405020304" pitchFamily="18" charset="0"/>
            </a:endParaRPr>
          </a:p>
          <a:p>
            <a:pPr marR="0" lvl="0" algn="just" defTabSz="914400" rtl="0" eaLnBrk="1" fontAlgn="auto" latinLnBrk="0" hangingPunct="1">
              <a:lnSpc>
                <a:spcPct val="150000"/>
              </a:lnSpc>
              <a:spcBef>
                <a:spcPts val="0"/>
              </a:spcBef>
              <a:spcAft>
                <a:spcPts val="0"/>
              </a:spcAft>
              <a:buClrTx/>
              <a:buSzTx/>
              <a:tabLst/>
              <a:defRPr/>
            </a:pPr>
            <a:endParaRPr kumimoji="0" lang="en-US" sz="2000" b="0" i="0" u="none" strike="noStrike" kern="1200" cap="none" spc="0" normalizeH="0" baseline="0" noProof="0" dirty="0">
              <a:ln>
                <a:noFill/>
              </a:ln>
              <a:solidFill>
                <a:prstClr val="black"/>
              </a:solidFill>
              <a:effectLst/>
              <a:uLnTx/>
              <a:uFillTx/>
              <a:ea typeface="+mn-ea"/>
              <a:cs typeface="Times New Roman" panose="02020603050405020304" pitchFamily="18" charset="0"/>
            </a:endParaRPr>
          </a:p>
        </p:txBody>
      </p:sp>
    </p:spTree>
    <p:extLst>
      <p:ext uri="{BB962C8B-B14F-4D97-AF65-F5344CB8AC3E}">
        <p14:creationId xmlns:p14="http://schemas.microsoft.com/office/powerpoint/2010/main" val="850685209"/>
      </p:ext>
    </p:extLst>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F67EF02-7F23-3C43-6A11-57BCE934532A}"/>
              </a:ext>
            </a:extLst>
          </p:cNvPr>
          <p:cNvPicPr>
            <a:picLocks noChangeAspect="1"/>
          </p:cNvPicPr>
          <p:nvPr/>
        </p:nvPicPr>
        <p:blipFill>
          <a:blip r:embed="rId2" cstate="print"/>
          <a:srcRect t="20925" b="14217"/>
          <a:stretch>
            <a:fillRect/>
          </a:stretch>
        </p:blipFill>
        <p:spPr>
          <a:xfrm>
            <a:off x="235983" y="176984"/>
            <a:ext cx="2816934" cy="958645"/>
          </a:xfrm>
          <a:prstGeom prst="rect">
            <a:avLst/>
          </a:prstGeom>
        </p:spPr>
      </p:pic>
      <p:pic>
        <p:nvPicPr>
          <p:cNvPr id="4" name="Picture 3">
            <a:extLst>
              <a:ext uri="{FF2B5EF4-FFF2-40B4-BE49-F238E27FC236}">
                <a16:creationId xmlns:a16="http://schemas.microsoft.com/office/drawing/2014/main" id="{3343EB38-73AC-38C3-0CCC-189A5BC1C0BA}"/>
              </a:ext>
            </a:extLst>
          </p:cNvPr>
          <p:cNvPicPr>
            <a:picLocks noChangeAspect="1"/>
          </p:cNvPicPr>
          <p:nvPr/>
        </p:nvPicPr>
        <p:blipFill>
          <a:blip r:embed="rId3" cstate="print"/>
          <a:stretch>
            <a:fillRect/>
          </a:stretch>
        </p:blipFill>
        <p:spPr>
          <a:xfrm>
            <a:off x="5928852" y="269154"/>
            <a:ext cx="979948" cy="736822"/>
          </a:xfrm>
          <a:prstGeom prst="rect">
            <a:avLst/>
          </a:prstGeom>
        </p:spPr>
      </p:pic>
      <p:pic>
        <p:nvPicPr>
          <p:cNvPr id="5" name="Picture 4">
            <a:extLst>
              <a:ext uri="{FF2B5EF4-FFF2-40B4-BE49-F238E27FC236}">
                <a16:creationId xmlns:a16="http://schemas.microsoft.com/office/drawing/2014/main" id="{290C8198-704E-EA60-6FA1-5A1921C62F0D}"/>
              </a:ext>
            </a:extLst>
          </p:cNvPr>
          <p:cNvPicPr>
            <a:picLocks noChangeAspect="1"/>
          </p:cNvPicPr>
          <p:nvPr/>
        </p:nvPicPr>
        <p:blipFill rotWithShape="1">
          <a:blip r:embed="rId4"/>
          <a:srcRect l="17820" r="18861"/>
          <a:stretch/>
        </p:blipFill>
        <p:spPr>
          <a:xfrm>
            <a:off x="11282517" y="191728"/>
            <a:ext cx="680332" cy="635895"/>
          </a:xfrm>
          <a:prstGeom prst="rect">
            <a:avLst/>
          </a:prstGeom>
        </p:spPr>
      </p:pic>
      <p:sp>
        <p:nvSpPr>
          <p:cNvPr id="6" name="Rectangle 5">
            <a:extLst>
              <a:ext uri="{FF2B5EF4-FFF2-40B4-BE49-F238E27FC236}">
                <a16:creationId xmlns:a16="http://schemas.microsoft.com/office/drawing/2014/main" id="{623134FF-C7C7-66D1-0586-719B01BDBC3F}"/>
              </a:ext>
            </a:extLst>
          </p:cNvPr>
          <p:cNvSpPr/>
          <p:nvPr/>
        </p:nvSpPr>
        <p:spPr>
          <a:xfrm>
            <a:off x="206477" y="1287292"/>
            <a:ext cx="11783962" cy="498663"/>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50000"/>
              </a:lnSpc>
            </a:pPr>
            <a:r>
              <a:rPr lang="en-IN" sz="2000" b="1" dirty="0">
                <a:latin typeface="Times New Roman" panose="02020603050405020304" pitchFamily="18" charset="0"/>
                <a:cs typeface="Times New Roman" panose="02020603050405020304" pitchFamily="18" charset="0"/>
              </a:rPr>
              <a:t>COMPONENTS USED</a:t>
            </a:r>
            <a:endParaRPr lang="en-US" sz="20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9481D5DB-D4F2-B1FE-75D0-37FE15ED45FD}"/>
              </a:ext>
            </a:extLst>
          </p:cNvPr>
          <p:cNvSpPr txBox="1"/>
          <p:nvPr/>
        </p:nvSpPr>
        <p:spPr>
          <a:xfrm>
            <a:off x="457199" y="1937618"/>
            <a:ext cx="7903027" cy="2806987"/>
          </a:xfrm>
          <a:prstGeom prst="rect">
            <a:avLst/>
          </a:prstGeom>
          <a:noFill/>
        </p:spPr>
        <p:txBody>
          <a:bodyPr wrap="square">
            <a:spAutoFit/>
          </a:bodyPr>
          <a:lstStyle/>
          <a:p>
            <a:pPr marR="0" lvl="0" algn="just" defTabSz="914400" rtl="0" eaLnBrk="1" fontAlgn="auto" latinLnBrk="0" hangingPunct="1">
              <a:lnSpc>
                <a:spcPct val="150000"/>
              </a:lnSpc>
              <a:spcBef>
                <a:spcPts val="0"/>
              </a:spcBef>
              <a:spcAft>
                <a:spcPts val="0"/>
              </a:spcAft>
              <a:buClrTx/>
              <a:buSzTx/>
              <a:tabLst/>
              <a:defRPr/>
            </a:pPr>
            <a:endPar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342900" marR="0" lvl="0" indent="-342900" algn="just"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Transformer-12V</a:t>
            </a:r>
            <a:endParaRPr lang="en-US" sz="2000" dirty="0">
              <a:solidFill>
                <a:prstClr val="black"/>
              </a:solidFill>
              <a:latin typeface="Times New Roman" panose="02020603050405020304" pitchFamily="18" charset="0"/>
              <a:cs typeface="Times New Roman" panose="02020603050405020304" pitchFamily="18" charset="0"/>
            </a:endParaRPr>
          </a:p>
          <a:p>
            <a:pPr marL="342900" marR="0" lvl="0" indent="-342900" algn="just"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7805 IC</a:t>
            </a:r>
          </a:p>
          <a:p>
            <a:pPr marL="342900" marR="0" lvl="0" indent="-342900" algn="just"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lang="en-US" sz="2000" dirty="0">
                <a:solidFill>
                  <a:prstClr val="black"/>
                </a:solidFill>
                <a:latin typeface="Times New Roman" panose="02020603050405020304" pitchFamily="18" charset="0"/>
                <a:cs typeface="Times New Roman" panose="02020603050405020304" pitchFamily="18" charset="0"/>
              </a:rPr>
              <a:t>Bread board</a:t>
            </a:r>
          </a:p>
          <a:p>
            <a:pPr marL="342900" marR="0" lvl="0" indent="-342900" algn="just"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Connecting wires</a:t>
            </a:r>
          </a:p>
          <a:p>
            <a:pPr marL="342900" marR="0" lvl="0" indent="-342900" algn="just"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lang="en-US" sz="2000" dirty="0">
                <a:solidFill>
                  <a:prstClr val="black"/>
                </a:solidFill>
                <a:latin typeface="Times New Roman" panose="02020603050405020304" pitchFamily="18" charset="0"/>
                <a:cs typeface="Times New Roman" panose="02020603050405020304" pitchFamily="18" charset="0"/>
              </a:rPr>
              <a:t>AC Source</a:t>
            </a:r>
            <a:endPar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425015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B6D8522-EF70-75ED-8771-474E9267D06D}"/>
              </a:ext>
            </a:extLst>
          </p:cNvPr>
          <p:cNvSpPr/>
          <p:nvPr/>
        </p:nvSpPr>
        <p:spPr>
          <a:xfrm>
            <a:off x="206477" y="1287292"/>
            <a:ext cx="11783962" cy="498663"/>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50000"/>
              </a:lnSpc>
            </a:pPr>
            <a:r>
              <a:rPr lang="en-IN" sz="2000" b="1" dirty="0">
                <a:latin typeface="Times New Roman" panose="02020603050405020304" pitchFamily="18" charset="0"/>
                <a:cs typeface="Times New Roman" panose="02020603050405020304" pitchFamily="18" charset="0"/>
              </a:rPr>
              <a:t>COMPONENTS DESCRIPTION</a:t>
            </a:r>
            <a:endParaRPr lang="en-US" sz="2000" b="1"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AACC1C39-0252-6927-4745-4FF3028C0EC0}"/>
              </a:ext>
            </a:extLst>
          </p:cNvPr>
          <p:cNvPicPr>
            <a:picLocks noChangeAspect="1"/>
          </p:cNvPicPr>
          <p:nvPr/>
        </p:nvPicPr>
        <p:blipFill>
          <a:blip r:embed="rId2" cstate="print"/>
          <a:srcRect t="20925" b="14217"/>
          <a:stretch>
            <a:fillRect/>
          </a:stretch>
        </p:blipFill>
        <p:spPr>
          <a:xfrm>
            <a:off x="235983" y="176984"/>
            <a:ext cx="2816934" cy="958645"/>
          </a:xfrm>
          <a:prstGeom prst="rect">
            <a:avLst/>
          </a:prstGeom>
        </p:spPr>
      </p:pic>
      <p:pic>
        <p:nvPicPr>
          <p:cNvPr id="9" name="Picture 8">
            <a:extLst>
              <a:ext uri="{FF2B5EF4-FFF2-40B4-BE49-F238E27FC236}">
                <a16:creationId xmlns:a16="http://schemas.microsoft.com/office/drawing/2014/main" id="{B4623304-5C5F-A8A9-DE75-3BFF4F106A5A}"/>
              </a:ext>
            </a:extLst>
          </p:cNvPr>
          <p:cNvPicPr>
            <a:picLocks noChangeAspect="1"/>
          </p:cNvPicPr>
          <p:nvPr/>
        </p:nvPicPr>
        <p:blipFill rotWithShape="1">
          <a:blip r:embed="rId3"/>
          <a:srcRect l="17820" r="18861"/>
          <a:stretch/>
        </p:blipFill>
        <p:spPr>
          <a:xfrm>
            <a:off x="11282517" y="191728"/>
            <a:ext cx="680332" cy="635895"/>
          </a:xfrm>
          <a:prstGeom prst="rect">
            <a:avLst/>
          </a:prstGeom>
        </p:spPr>
      </p:pic>
      <p:pic>
        <p:nvPicPr>
          <p:cNvPr id="10" name="Picture 9"/>
          <p:cNvPicPr>
            <a:picLocks noChangeAspect="1"/>
          </p:cNvPicPr>
          <p:nvPr/>
        </p:nvPicPr>
        <p:blipFill>
          <a:blip r:embed="rId4" cstate="print"/>
          <a:stretch>
            <a:fillRect/>
          </a:stretch>
        </p:blipFill>
        <p:spPr>
          <a:xfrm>
            <a:off x="5928852" y="269154"/>
            <a:ext cx="979948" cy="736822"/>
          </a:xfrm>
          <a:prstGeom prst="rect">
            <a:avLst/>
          </a:prstGeom>
        </p:spPr>
      </p:pic>
      <p:sp>
        <p:nvSpPr>
          <p:cNvPr id="7" name="TextBox 6">
            <a:extLst>
              <a:ext uri="{FF2B5EF4-FFF2-40B4-BE49-F238E27FC236}">
                <a16:creationId xmlns:a16="http://schemas.microsoft.com/office/drawing/2014/main" id="{E6BB31B7-2EFE-8B6B-7FA5-07C5078BF1CA}"/>
              </a:ext>
            </a:extLst>
          </p:cNvPr>
          <p:cNvSpPr txBox="1"/>
          <p:nvPr/>
        </p:nvSpPr>
        <p:spPr>
          <a:xfrm>
            <a:off x="408214" y="2373047"/>
            <a:ext cx="10395857" cy="2806987"/>
          </a:xfrm>
          <a:prstGeom prst="rect">
            <a:avLst/>
          </a:prstGeom>
          <a:noFill/>
        </p:spPr>
        <p:txBody>
          <a:bodyPr wrap="square">
            <a:spAutoFit/>
          </a:bodyPr>
          <a:lstStyle/>
          <a:p>
            <a:pPr marL="342900" marR="0" lvl="0" indent="-342900" algn="just"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lang="en-IN" sz="2000" dirty="0">
                <a:latin typeface="Times New Roman" panose="02020603050405020304" pitchFamily="18" charset="0"/>
                <a:cs typeface="Times New Roman" panose="02020603050405020304" pitchFamily="18" charset="0"/>
              </a:rPr>
              <a:t>555 Timer IC</a:t>
            </a:r>
            <a:r>
              <a:rPr lang="en-US" sz="2000" dirty="0">
                <a:solidFill>
                  <a:prstClr val="black"/>
                </a:solidFill>
                <a:latin typeface="Times New Roman" panose="02020603050405020304" pitchFamily="18" charset="0"/>
                <a:cs typeface="Times New Roman" panose="02020603050405020304" pitchFamily="18" charset="0"/>
              </a:rPr>
              <a:t> - </a:t>
            </a:r>
            <a:r>
              <a:rPr lang="en-US" sz="2000" dirty="0">
                <a:latin typeface="Times New Roman" panose="02020603050405020304" pitchFamily="18" charset="0"/>
                <a:cs typeface="Times New Roman" panose="02020603050405020304" pitchFamily="18" charset="0"/>
              </a:rPr>
              <a:t>The 555 can create time delays in circuits</a:t>
            </a:r>
            <a:endPar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Ø"/>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Lamp -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 indication of charging status</a:t>
            </a:r>
            <a:endPar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342900" marR="0" lvl="0" indent="-342900" algn="just"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Diode </a:t>
            </a:r>
            <a:r>
              <a:rPr kumimoji="0" lang="en-IN"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T</a:t>
            </a:r>
            <a:r>
              <a:rPr lang="en-IN" sz="2000" dirty="0">
                <a:latin typeface="Times New Roman" panose="02020603050405020304" pitchFamily="18" charset="0"/>
                <a:cs typeface="Times New Roman" panose="02020603050405020304" pitchFamily="18" charset="0"/>
              </a:rPr>
              <a:t>o prevent backflow</a:t>
            </a:r>
            <a:endPar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342900" marR="0" lvl="0" indent="-342900" algn="just"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Resistor </a:t>
            </a:r>
            <a:r>
              <a:rPr lang="en-US" sz="2000" dirty="0">
                <a:solidFill>
                  <a:prstClr val="black"/>
                </a:solidFill>
                <a:latin typeface="Times New Roman" panose="02020603050405020304" pitchFamily="18" charset="0"/>
                <a:cs typeface="Times New Roman" panose="02020603050405020304" pitchFamily="18" charset="0"/>
              </a:rPr>
              <a:t>- Resist the current</a:t>
            </a:r>
            <a:endPar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342900" marR="0" lvl="0" indent="-342900" algn="just"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Capacitor </a:t>
            </a:r>
            <a:r>
              <a:rPr lang="en-US" sz="2000" dirty="0">
                <a:solidFill>
                  <a:prstClr val="black"/>
                </a:solidFill>
                <a:latin typeface="Times New Roman" panose="02020603050405020304" pitchFamily="18" charset="0"/>
                <a:cs typeface="Times New Roman" panose="02020603050405020304" pitchFamily="18" charset="0"/>
              </a:rPr>
              <a:t>-</a:t>
            </a: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lang="en-US" sz="2000" dirty="0">
                <a:solidFill>
                  <a:prstClr val="black"/>
                </a:solidFill>
                <a:latin typeface="Times New Roman" panose="02020603050405020304" pitchFamily="18" charset="0"/>
                <a:cs typeface="Times New Roman" panose="02020603050405020304" pitchFamily="18" charset="0"/>
              </a:rPr>
              <a:t>Filter out high frequency AC noise from DC supply</a:t>
            </a:r>
            <a:endParaRPr lang="en-US" sz="20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Ø"/>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SCR - </a:t>
            </a:r>
            <a:r>
              <a:rPr kumimoji="0" lang="en-IN"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F</a:t>
            </a:r>
            <a:r>
              <a:rPr lang="en-IN" sz="2000" dirty="0">
                <a:latin typeface="Times New Roman" panose="02020603050405020304" pitchFamily="18" charset="0"/>
                <a:cs typeface="Times New Roman" panose="02020603050405020304" pitchFamily="18" charset="0"/>
              </a:rPr>
              <a:t>unction as controlled rectifiers</a:t>
            </a:r>
            <a:endPar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41107881"/>
      </p:ext>
    </p:extLst>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E3930B7-28C2-54FC-0D51-C7112B32868D}"/>
              </a:ext>
            </a:extLst>
          </p:cNvPr>
          <p:cNvPicPr>
            <a:picLocks noChangeAspect="1"/>
          </p:cNvPicPr>
          <p:nvPr/>
        </p:nvPicPr>
        <p:blipFill>
          <a:blip r:embed="rId2" cstate="print"/>
          <a:srcRect t="20925" b="14217"/>
          <a:stretch>
            <a:fillRect/>
          </a:stretch>
        </p:blipFill>
        <p:spPr>
          <a:xfrm>
            <a:off x="235983" y="176984"/>
            <a:ext cx="2816934" cy="958645"/>
          </a:xfrm>
          <a:prstGeom prst="rect">
            <a:avLst/>
          </a:prstGeom>
        </p:spPr>
      </p:pic>
      <p:pic>
        <p:nvPicPr>
          <p:cNvPr id="3" name="Picture 2">
            <a:extLst>
              <a:ext uri="{FF2B5EF4-FFF2-40B4-BE49-F238E27FC236}">
                <a16:creationId xmlns:a16="http://schemas.microsoft.com/office/drawing/2014/main" id="{46D6561F-F9BE-8643-B738-A906EF980E0C}"/>
              </a:ext>
            </a:extLst>
          </p:cNvPr>
          <p:cNvPicPr>
            <a:picLocks noChangeAspect="1"/>
          </p:cNvPicPr>
          <p:nvPr/>
        </p:nvPicPr>
        <p:blipFill>
          <a:blip r:embed="rId3" cstate="print"/>
          <a:stretch>
            <a:fillRect/>
          </a:stretch>
        </p:blipFill>
        <p:spPr>
          <a:xfrm>
            <a:off x="5928852" y="269154"/>
            <a:ext cx="979948" cy="736822"/>
          </a:xfrm>
          <a:prstGeom prst="rect">
            <a:avLst/>
          </a:prstGeom>
        </p:spPr>
      </p:pic>
      <p:pic>
        <p:nvPicPr>
          <p:cNvPr id="4" name="Picture 3">
            <a:extLst>
              <a:ext uri="{FF2B5EF4-FFF2-40B4-BE49-F238E27FC236}">
                <a16:creationId xmlns:a16="http://schemas.microsoft.com/office/drawing/2014/main" id="{A49ADBF7-8150-1077-302B-761C81B1A227}"/>
              </a:ext>
            </a:extLst>
          </p:cNvPr>
          <p:cNvPicPr>
            <a:picLocks noChangeAspect="1"/>
          </p:cNvPicPr>
          <p:nvPr/>
        </p:nvPicPr>
        <p:blipFill rotWithShape="1">
          <a:blip r:embed="rId4"/>
          <a:srcRect l="17820" r="18861"/>
          <a:stretch/>
        </p:blipFill>
        <p:spPr>
          <a:xfrm>
            <a:off x="11282517" y="191728"/>
            <a:ext cx="680332" cy="635895"/>
          </a:xfrm>
          <a:prstGeom prst="rect">
            <a:avLst/>
          </a:prstGeom>
        </p:spPr>
      </p:pic>
      <p:sp>
        <p:nvSpPr>
          <p:cNvPr id="5" name="Rectangle 4">
            <a:extLst>
              <a:ext uri="{FF2B5EF4-FFF2-40B4-BE49-F238E27FC236}">
                <a16:creationId xmlns:a16="http://schemas.microsoft.com/office/drawing/2014/main" id="{D033AA40-5DF9-712A-6FDF-16B0C9001D6D}"/>
              </a:ext>
            </a:extLst>
          </p:cNvPr>
          <p:cNvSpPr/>
          <p:nvPr/>
        </p:nvSpPr>
        <p:spPr>
          <a:xfrm>
            <a:off x="206477" y="1287292"/>
            <a:ext cx="11783962" cy="498663"/>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50000"/>
              </a:lnSpc>
            </a:pPr>
            <a:r>
              <a:rPr lang="en-IN" sz="2000" b="1" dirty="0">
                <a:latin typeface="Times New Roman" panose="02020603050405020304" pitchFamily="18" charset="0"/>
                <a:cs typeface="Times New Roman" panose="02020603050405020304" pitchFamily="18" charset="0"/>
              </a:rPr>
              <a:t>COMPONENTS DESCRIPTION</a:t>
            </a:r>
            <a:endParaRPr lang="en-US" sz="20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6BD33122-07C6-FB49-B5E7-4A6C06668C8B}"/>
              </a:ext>
            </a:extLst>
          </p:cNvPr>
          <p:cNvSpPr txBox="1"/>
          <p:nvPr/>
        </p:nvSpPr>
        <p:spPr>
          <a:xfrm>
            <a:off x="366252" y="2342178"/>
            <a:ext cx="11125200" cy="2806987"/>
          </a:xfrm>
          <a:prstGeom prst="rect">
            <a:avLst/>
          </a:prstGeom>
          <a:noFill/>
        </p:spPr>
        <p:txBody>
          <a:bodyPr wrap="square">
            <a:spAutoFit/>
          </a:bodyPr>
          <a:lstStyle/>
          <a:p>
            <a:pPr marL="342900" marR="0" lvl="0" indent="-342900" algn="just"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endPar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342900" marR="0" lvl="0" indent="-342900" algn="just"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AC source - U</a:t>
            </a:r>
            <a:r>
              <a:rPr lang="en-US" sz="2000" dirty="0">
                <a:latin typeface="Times New Roman" panose="02020603050405020304" pitchFamily="18" charset="0"/>
                <a:cs typeface="Times New Roman" panose="02020603050405020304" pitchFamily="18" charset="0"/>
              </a:rPr>
              <a:t>sed for a variety of applications due to its ability to efficiently transmit electrical energy</a:t>
            </a:r>
            <a:endPar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342900" marR="0" lvl="0" indent="-342900" algn="just"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Transformer - </a:t>
            </a:r>
            <a:r>
              <a:rPr lang="en-US" sz="2000" dirty="0">
                <a:latin typeface="Times New Roman" panose="02020603050405020304" pitchFamily="18" charset="0"/>
                <a:cs typeface="Times New Roman" panose="02020603050405020304" pitchFamily="18" charset="0"/>
              </a:rPr>
              <a:t>Step-down transformer (if using AC) or a suitable DC power supply</a:t>
            </a:r>
          </a:p>
          <a:p>
            <a:pPr marL="342900" marR="0" lvl="0" indent="-342900" algn="just"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Bread board - </a:t>
            </a:r>
            <a:r>
              <a:rPr kumimoji="0" lang="en-IN"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F</a:t>
            </a:r>
            <a:r>
              <a:rPr lang="en-IN" sz="2000" dirty="0">
                <a:latin typeface="Times New Roman" panose="02020603050405020304" pitchFamily="18" charset="0"/>
                <a:cs typeface="Times New Roman" panose="02020603050405020304" pitchFamily="18" charset="0"/>
              </a:rPr>
              <a:t>or assembling the circuit</a:t>
            </a:r>
          </a:p>
          <a:p>
            <a:pPr marL="342900" marR="0" lvl="0" indent="-342900" algn="just"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en-IN"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7805 I</a:t>
            </a:r>
            <a:r>
              <a:rPr lang="en-IN" sz="2000" dirty="0">
                <a:solidFill>
                  <a:prstClr val="black"/>
                </a:solidFill>
                <a:latin typeface="Times New Roman" panose="02020603050405020304" pitchFamily="18" charset="0"/>
                <a:cs typeface="Times New Roman" panose="02020603050405020304" pitchFamily="18" charset="0"/>
              </a:rPr>
              <a:t>C – Regulates the voltage</a:t>
            </a:r>
            <a:endPar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R="0" lvl="0" algn="just" defTabSz="914400" rtl="0" eaLnBrk="1" fontAlgn="auto" latinLnBrk="0" hangingPunct="1">
              <a:lnSpc>
                <a:spcPct val="150000"/>
              </a:lnSpc>
              <a:spcBef>
                <a:spcPts val="0"/>
              </a:spcBef>
              <a:spcAft>
                <a:spcPts val="0"/>
              </a:spcAft>
              <a:buClrTx/>
              <a:buSzTx/>
              <a:tabLst/>
              <a:defRPr/>
            </a:pPr>
            <a:endPar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885721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862FE86-9AB3-45EE-0EE2-B7E1F06B946E}"/>
              </a:ext>
            </a:extLst>
          </p:cNvPr>
          <p:cNvPicPr>
            <a:picLocks noChangeAspect="1"/>
          </p:cNvPicPr>
          <p:nvPr/>
        </p:nvPicPr>
        <p:blipFill>
          <a:blip r:embed="rId2" cstate="print"/>
          <a:srcRect t="20925" b="14217"/>
          <a:stretch>
            <a:fillRect/>
          </a:stretch>
        </p:blipFill>
        <p:spPr>
          <a:xfrm>
            <a:off x="146668" y="81948"/>
            <a:ext cx="2816934" cy="958645"/>
          </a:xfrm>
          <a:prstGeom prst="rect">
            <a:avLst/>
          </a:prstGeom>
        </p:spPr>
      </p:pic>
      <p:pic>
        <p:nvPicPr>
          <p:cNvPr id="3" name="Picture 2">
            <a:extLst>
              <a:ext uri="{FF2B5EF4-FFF2-40B4-BE49-F238E27FC236}">
                <a16:creationId xmlns:a16="http://schemas.microsoft.com/office/drawing/2014/main" id="{218F53B6-254D-6F32-CC8B-2AACF99F6724}"/>
              </a:ext>
            </a:extLst>
          </p:cNvPr>
          <p:cNvPicPr>
            <a:picLocks noChangeAspect="1"/>
          </p:cNvPicPr>
          <p:nvPr/>
        </p:nvPicPr>
        <p:blipFill>
          <a:blip r:embed="rId3" cstate="print"/>
          <a:stretch>
            <a:fillRect/>
          </a:stretch>
        </p:blipFill>
        <p:spPr>
          <a:xfrm>
            <a:off x="5928852" y="269154"/>
            <a:ext cx="979948" cy="736822"/>
          </a:xfrm>
          <a:prstGeom prst="rect">
            <a:avLst/>
          </a:prstGeom>
        </p:spPr>
      </p:pic>
      <p:pic>
        <p:nvPicPr>
          <p:cNvPr id="4" name="Picture 3">
            <a:extLst>
              <a:ext uri="{FF2B5EF4-FFF2-40B4-BE49-F238E27FC236}">
                <a16:creationId xmlns:a16="http://schemas.microsoft.com/office/drawing/2014/main" id="{062BFFB0-392D-ACBE-4545-81254AB2ED3F}"/>
              </a:ext>
            </a:extLst>
          </p:cNvPr>
          <p:cNvPicPr>
            <a:picLocks noChangeAspect="1"/>
          </p:cNvPicPr>
          <p:nvPr/>
        </p:nvPicPr>
        <p:blipFill rotWithShape="1">
          <a:blip r:embed="rId4"/>
          <a:srcRect l="17820" r="18861"/>
          <a:stretch/>
        </p:blipFill>
        <p:spPr>
          <a:xfrm>
            <a:off x="11282517" y="191728"/>
            <a:ext cx="680332" cy="635895"/>
          </a:xfrm>
          <a:prstGeom prst="rect">
            <a:avLst/>
          </a:prstGeom>
        </p:spPr>
      </p:pic>
      <p:sp>
        <p:nvSpPr>
          <p:cNvPr id="6" name="AutoShape 2">
            <a:extLst>
              <a:ext uri="{FF2B5EF4-FFF2-40B4-BE49-F238E27FC236}">
                <a16:creationId xmlns:a16="http://schemas.microsoft.com/office/drawing/2014/main" id="{3548D90A-5725-CA36-FD54-F636C046BA18}"/>
              </a:ext>
            </a:extLst>
          </p:cNvPr>
          <p:cNvSpPr>
            <a:spLocks noChangeAspect="1" noChangeArrowheads="1"/>
          </p:cNvSpPr>
          <p:nvPr/>
        </p:nvSpPr>
        <p:spPr bwMode="auto">
          <a:xfrm>
            <a:off x="1632857" y="1959429"/>
            <a:ext cx="9153331" cy="363893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02244630-1BAF-1A48-41E7-F2BFC9417634}"/>
              </a:ext>
            </a:extLst>
          </p:cNvPr>
          <p:cNvSpPr/>
          <p:nvPr/>
        </p:nvSpPr>
        <p:spPr>
          <a:xfrm>
            <a:off x="206477" y="1287292"/>
            <a:ext cx="11783962" cy="498663"/>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50000"/>
              </a:lnSpc>
            </a:pPr>
            <a:r>
              <a:rPr lang="en-IN" sz="2000" b="1" dirty="0">
                <a:latin typeface="Times New Roman" panose="02020603050405020304" pitchFamily="18" charset="0"/>
                <a:cs typeface="Times New Roman" panose="02020603050405020304" pitchFamily="18" charset="0"/>
              </a:rPr>
              <a:t>HARDWARE PHOTO</a:t>
            </a:r>
          </a:p>
        </p:txBody>
      </p:sp>
      <p:pic>
        <p:nvPicPr>
          <p:cNvPr id="7" name="Picture 6">
            <a:extLst>
              <a:ext uri="{FF2B5EF4-FFF2-40B4-BE49-F238E27FC236}">
                <a16:creationId xmlns:a16="http://schemas.microsoft.com/office/drawing/2014/main" id="{604C14D5-645E-6ACD-8664-F87C4A5AB5C0}"/>
              </a:ext>
            </a:extLst>
          </p:cNvPr>
          <p:cNvPicPr>
            <a:picLocks noChangeAspect="1"/>
          </p:cNvPicPr>
          <p:nvPr/>
        </p:nvPicPr>
        <p:blipFill>
          <a:blip r:embed="rId5"/>
          <a:stretch>
            <a:fillRect/>
          </a:stretch>
        </p:blipFill>
        <p:spPr>
          <a:xfrm>
            <a:off x="1632857" y="2024952"/>
            <a:ext cx="8540621" cy="4563894"/>
          </a:xfrm>
          <a:prstGeom prst="rect">
            <a:avLst/>
          </a:prstGeom>
        </p:spPr>
      </p:pic>
    </p:spTree>
    <p:extLst>
      <p:ext uri="{BB962C8B-B14F-4D97-AF65-F5344CB8AC3E}">
        <p14:creationId xmlns:p14="http://schemas.microsoft.com/office/powerpoint/2010/main" val="23336031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72C768A-536A-BA36-1B59-190F233FB9FF}"/>
              </a:ext>
            </a:extLst>
          </p:cNvPr>
          <p:cNvPicPr>
            <a:picLocks noChangeAspect="1"/>
          </p:cNvPicPr>
          <p:nvPr/>
        </p:nvPicPr>
        <p:blipFill rotWithShape="1">
          <a:blip r:embed="rId2"/>
          <a:srcRect l="17820" r="18861"/>
          <a:stretch/>
        </p:blipFill>
        <p:spPr>
          <a:xfrm>
            <a:off x="11282517" y="191728"/>
            <a:ext cx="680332" cy="635895"/>
          </a:xfrm>
          <a:prstGeom prst="rect">
            <a:avLst/>
          </a:prstGeom>
        </p:spPr>
      </p:pic>
      <p:pic>
        <p:nvPicPr>
          <p:cNvPr id="3" name="Picture 2">
            <a:extLst>
              <a:ext uri="{FF2B5EF4-FFF2-40B4-BE49-F238E27FC236}">
                <a16:creationId xmlns:a16="http://schemas.microsoft.com/office/drawing/2014/main" id="{20C0F579-0DB1-5948-ED03-F9CA842C4804}"/>
              </a:ext>
            </a:extLst>
          </p:cNvPr>
          <p:cNvPicPr>
            <a:picLocks noChangeAspect="1"/>
          </p:cNvPicPr>
          <p:nvPr/>
        </p:nvPicPr>
        <p:blipFill>
          <a:blip r:embed="rId3" cstate="print"/>
          <a:srcRect t="20925" b="14217"/>
          <a:stretch>
            <a:fillRect/>
          </a:stretch>
        </p:blipFill>
        <p:spPr>
          <a:xfrm>
            <a:off x="235983" y="176984"/>
            <a:ext cx="2816934" cy="958645"/>
          </a:xfrm>
          <a:prstGeom prst="rect">
            <a:avLst/>
          </a:prstGeom>
        </p:spPr>
      </p:pic>
      <p:pic>
        <p:nvPicPr>
          <p:cNvPr id="4" name="Picture 3">
            <a:extLst>
              <a:ext uri="{FF2B5EF4-FFF2-40B4-BE49-F238E27FC236}">
                <a16:creationId xmlns:a16="http://schemas.microsoft.com/office/drawing/2014/main" id="{19F33DEA-0429-3EF1-2129-40155DF199D4}"/>
              </a:ext>
            </a:extLst>
          </p:cNvPr>
          <p:cNvPicPr>
            <a:picLocks noChangeAspect="1"/>
          </p:cNvPicPr>
          <p:nvPr/>
        </p:nvPicPr>
        <p:blipFill>
          <a:blip r:embed="rId4" cstate="print"/>
          <a:stretch>
            <a:fillRect/>
          </a:stretch>
        </p:blipFill>
        <p:spPr>
          <a:xfrm>
            <a:off x="5928852" y="269154"/>
            <a:ext cx="979948" cy="736822"/>
          </a:xfrm>
          <a:prstGeom prst="rect">
            <a:avLst/>
          </a:prstGeom>
        </p:spPr>
      </p:pic>
      <p:sp>
        <p:nvSpPr>
          <p:cNvPr id="7" name="Rectangle 6">
            <a:extLst>
              <a:ext uri="{FF2B5EF4-FFF2-40B4-BE49-F238E27FC236}">
                <a16:creationId xmlns:a16="http://schemas.microsoft.com/office/drawing/2014/main" id="{1C4AC58E-A903-1D3E-E935-7F8714DEDB63}"/>
              </a:ext>
            </a:extLst>
          </p:cNvPr>
          <p:cNvSpPr/>
          <p:nvPr/>
        </p:nvSpPr>
        <p:spPr>
          <a:xfrm>
            <a:off x="206477" y="1287292"/>
            <a:ext cx="11783962" cy="498663"/>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50000"/>
              </a:lnSpc>
            </a:pPr>
            <a:r>
              <a:rPr lang="en-IN" sz="2000" b="1" dirty="0">
                <a:latin typeface="Times New Roman" panose="02020603050405020304" pitchFamily="18" charset="0"/>
                <a:cs typeface="Times New Roman" panose="02020603050405020304" pitchFamily="18" charset="0"/>
              </a:rPr>
              <a:t> WORKING PROCESS</a:t>
            </a:r>
          </a:p>
        </p:txBody>
      </p:sp>
      <p:sp>
        <p:nvSpPr>
          <p:cNvPr id="9" name="TextBox 8">
            <a:extLst>
              <a:ext uri="{FF2B5EF4-FFF2-40B4-BE49-F238E27FC236}">
                <a16:creationId xmlns:a16="http://schemas.microsoft.com/office/drawing/2014/main" id="{B5E23E8D-C1B1-7AC6-64B2-A9DAFB7ECCAC}"/>
              </a:ext>
            </a:extLst>
          </p:cNvPr>
          <p:cNvSpPr txBox="1"/>
          <p:nvPr/>
        </p:nvSpPr>
        <p:spPr>
          <a:xfrm>
            <a:off x="653143" y="2136710"/>
            <a:ext cx="11187403" cy="3785652"/>
          </a:xfrm>
          <a:prstGeom prst="rect">
            <a:avLst/>
          </a:prstGeom>
          <a:noFill/>
        </p:spPr>
        <p:txBody>
          <a:bodyPr wrap="square">
            <a:spAutoFit/>
          </a:bodyPr>
          <a:lstStyle/>
          <a:p>
            <a:pPr marL="285750" indent="-285750" algn="just">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A battery charger using an SCR and a 555 timer works by regulating the charging current to the battery. First, the AC mains voltage is stepped down by a transformer and converted to DC using a rectifier circuit. The SCR acts as an electronic switch, controlling the current flow to the battery. It is triggered at its gate to allow current to pass when the battery needs charging.</a:t>
            </a:r>
          </a:p>
          <a:p>
            <a:pPr marL="285750" indent="-285750" algn="just">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The 555 timer monitors the battery's voltage level through a voltage divider. When the voltage is below a preset threshold, the 555 timer sends a signal to trigger the SCR, allowing charging to continue. As the battery charges and reaches the full voltage, the timer output changes, cutting off the SCR's gate signal, which stops the current flow to prevent overcharging.</a:t>
            </a:r>
          </a:p>
          <a:p>
            <a:pPr marL="285750" indent="-285750" algn="just">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This system ensures efficient and automatic charging, turning the charger on and off as needed. It is a simple and reliable design for maintaining battery health.</a:t>
            </a:r>
          </a:p>
        </p:txBody>
      </p:sp>
    </p:spTree>
    <p:extLst>
      <p:ext uri="{BB962C8B-B14F-4D97-AF65-F5344CB8AC3E}">
        <p14:creationId xmlns:p14="http://schemas.microsoft.com/office/powerpoint/2010/main" val="30867611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AC330F9-208B-141C-46BA-B726590B1544}"/>
              </a:ext>
            </a:extLst>
          </p:cNvPr>
          <p:cNvPicPr>
            <a:picLocks noChangeAspect="1"/>
          </p:cNvPicPr>
          <p:nvPr/>
        </p:nvPicPr>
        <p:blipFill rotWithShape="1">
          <a:blip r:embed="rId2"/>
          <a:srcRect l="17820" r="18861"/>
          <a:stretch/>
        </p:blipFill>
        <p:spPr>
          <a:xfrm>
            <a:off x="11282517" y="191728"/>
            <a:ext cx="680332" cy="635895"/>
          </a:xfrm>
          <a:prstGeom prst="rect">
            <a:avLst/>
          </a:prstGeom>
        </p:spPr>
      </p:pic>
      <p:pic>
        <p:nvPicPr>
          <p:cNvPr id="3" name="Picture 2">
            <a:extLst>
              <a:ext uri="{FF2B5EF4-FFF2-40B4-BE49-F238E27FC236}">
                <a16:creationId xmlns:a16="http://schemas.microsoft.com/office/drawing/2014/main" id="{8499FA64-E655-CB45-EA92-4DF1DE1605E9}"/>
              </a:ext>
            </a:extLst>
          </p:cNvPr>
          <p:cNvPicPr>
            <a:picLocks noChangeAspect="1"/>
          </p:cNvPicPr>
          <p:nvPr/>
        </p:nvPicPr>
        <p:blipFill>
          <a:blip r:embed="rId3" cstate="print"/>
          <a:srcRect t="20925" b="14217"/>
          <a:stretch>
            <a:fillRect/>
          </a:stretch>
        </p:blipFill>
        <p:spPr>
          <a:xfrm>
            <a:off x="235983" y="176984"/>
            <a:ext cx="2816934" cy="958645"/>
          </a:xfrm>
          <a:prstGeom prst="rect">
            <a:avLst/>
          </a:prstGeom>
        </p:spPr>
      </p:pic>
      <p:pic>
        <p:nvPicPr>
          <p:cNvPr id="4" name="Picture 3">
            <a:extLst>
              <a:ext uri="{FF2B5EF4-FFF2-40B4-BE49-F238E27FC236}">
                <a16:creationId xmlns:a16="http://schemas.microsoft.com/office/drawing/2014/main" id="{90D38E5E-AFC5-3A16-C57A-0DB98C75C6F2}"/>
              </a:ext>
            </a:extLst>
          </p:cNvPr>
          <p:cNvPicPr>
            <a:picLocks noChangeAspect="1"/>
          </p:cNvPicPr>
          <p:nvPr/>
        </p:nvPicPr>
        <p:blipFill>
          <a:blip r:embed="rId4" cstate="print"/>
          <a:stretch>
            <a:fillRect/>
          </a:stretch>
        </p:blipFill>
        <p:spPr>
          <a:xfrm>
            <a:off x="5928852" y="269154"/>
            <a:ext cx="979948" cy="736822"/>
          </a:xfrm>
          <a:prstGeom prst="rect">
            <a:avLst/>
          </a:prstGeom>
        </p:spPr>
      </p:pic>
      <p:sp>
        <p:nvSpPr>
          <p:cNvPr id="5" name="Rectangle 4">
            <a:extLst>
              <a:ext uri="{FF2B5EF4-FFF2-40B4-BE49-F238E27FC236}">
                <a16:creationId xmlns:a16="http://schemas.microsoft.com/office/drawing/2014/main" id="{3B455F45-CC91-DF38-4BEF-BB5B9C5EA1FD}"/>
              </a:ext>
            </a:extLst>
          </p:cNvPr>
          <p:cNvSpPr/>
          <p:nvPr/>
        </p:nvSpPr>
        <p:spPr>
          <a:xfrm>
            <a:off x="178887" y="1305954"/>
            <a:ext cx="11783962" cy="498663"/>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50000"/>
              </a:lnSpc>
            </a:pPr>
            <a:r>
              <a:rPr lang="en-IN" sz="2000" b="1" dirty="0">
                <a:latin typeface="Times New Roman" panose="02020603050405020304" pitchFamily="18" charset="0"/>
                <a:cs typeface="Times New Roman" panose="02020603050405020304" pitchFamily="18" charset="0"/>
              </a:rPr>
              <a:t>CONCLUSION</a:t>
            </a:r>
          </a:p>
        </p:txBody>
      </p:sp>
      <p:sp>
        <p:nvSpPr>
          <p:cNvPr id="7" name="TextBox 6">
            <a:extLst>
              <a:ext uri="{FF2B5EF4-FFF2-40B4-BE49-F238E27FC236}">
                <a16:creationId xmlns:a16="http://schemas.microsoft.com/office/drawing/2014/main" id="{482376EE-D675-2C84-9C98-5406C40FF450}"/>
              </a:ext>
            </a:extLst>
          </p:cNvPr>
          <p:cNvSpPr txBox="1"/>
          <p:nvPr/>
        </p:nvSpPr>
        <p:spPr>
          <a:xfrm>
            <a:off x="1127449" y="3088434"/>
            <a:ext cx="9937102" cy="1323439"/>
          </a:xfrm>
          <a:prstGeom prst="rect">
            <a:avLst/>
          </a:prstGeom>
          <a:noFill/>
        </p:spPr>
        <p:txBody>
          <a:bodyPr wrap="square">
            <a:spAutoFit/>
          </a:bodyPr>
          <a:lstStyle/>
          <a:p>
            <a:pPr algn="just"/>
            <a:r>
              <a:rPr lang="en-IN" sz="2000" dirty="0">
                <a:latin typeface="Times New Roman" panose="02020603050405020304" pitchFamily="18" charset="0"/>
                <a:cs typeface="Times New Roman" panose="02020603050405020304" pitchFamily="18" charset="0"/>
              </a:rPr>
              <a:t>    In conclusion, a battery charger using an SCR and a 555 timer provides an efficient and reliable way to control the charging process. The SCR regulates the current flow, while the 555 timer monitors the battery voltage to prevent overcharging. This setup ensures safe, automatic charging, extending the battery's lifespan and maintaining its performance.</a:t>
            </a:r>
          </a:p>
        </p:txBody>
      </p:sp>
    </p:spTree>
    <p:extLst>
      <p:ext uri="{BB962C8B-B14F-4D97-AF65-F5344CB8AC3E}">
        <p14:creationId xmlns:p14="http://schemas.microsoft.com/office/powerpoint/2010/main" val="21901962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35031EF-2D23-73DD-57E4-AF2340F3CAC3}"/>
              </a:ext>
            </a:extLst>
          </p:cNvPr>
          <p:cNvPicPr>
            <a:picLocks noChangeAspect="1"/>
          </p:cNvPicPr>
          <p:nvPr/>
        </p:nvPicPr>
        <p:blipFill rotWithShape="1">
          <a:blip r:embed="rId2"/>
          <a:srcRect l="17820" r="18861"/>
          <a:stretch/>
        </p:blipFill>
        <p:spPr>
          <a:xfrm>
            <a:off x="11282517" y="191728"/>
            <a:ext cx="680332" cy="635895"/>
          </a:xfrm>
          <a:prstGeom prst="rect">
            <a:avLst/>
          </a:prstGeom>
        </p:spPr>
      </p:pic>
      <p:pic>
        <p:nvPicPr>
          <p:cNvPr id="3" name="Picture 2">
            <a:extLst>
              <a:ext uri="{FF2B5EF4-FFF2-40B4-BE49-F238E27FC236}">
                <a16:creationId xmlns:a16="http://schemas.microsoft.com/office/drawing/2014/main" id="{4B21EEBA-C10A-767B-0C96-E139E5E543D5}"/>
              </a:ext>
            </a:extLst>
          </p:cNvPr>
          <p:cNvPicPr>
            <a:picLocks noChangeAspect="1"/>
          </p:cNvPicPr>
          <p:nvPr/>
        </p:nvPicPr>
        <p:blipFill>
          <a:blip r:embed="rId3" cstate="print"/>
          <a:srcRect t="20925" b="14217"/>
          <a:stretch>
            <a:fillRect/>
          </a:stretch>
        </p:blipFill>
        <p:spPr>
          <a:xfrm>
            <a:off x="235983" y="176984"/>
            <a:ext cx="2816934" cy="958645"/>
          </a:xfrm>
          <a:prstGeom prst="rect">
            <a:avLst/>
          </a:prstGeom>
        </p:spPr>
      </p:pic>
      <p:pic>
        <p:nvPicPr>
          <p:cNvPr id="4" name="Picture 3">
            <a:extLst>
              <a:ext uri="{FF2B5EF4-FFF2-40B4-BE49-F238E27FC236}">
                <a16:creationId xmlns:a16="http://schemas.microsoft.com/office/drawing/2014/main" id="{1ED592C3-5F26-CF4B-9096-9DB8C1CC3B35}"/>
              </a:ext>
            </a:extLst>
          </p:cNvPr>
          <p:cNvPicPr>
            <a:picLocks noChangeAspect="1"/>
          </p:cNvPicPr>
          <p:nvPr/>
        </p:nvPicPr>
        <p:blipFill>
          <a:blip r:embed="rId4" cstate="print"/>
          <a:stretch>
            <a:fillRect/>
          </a:stretch>
        </p:blipFill>
        <p:spPr>
          <a:xfrm>
            <a:off x="5928852" y="269154"/>
            <a:ext cx="979948" cy="736822"/>
          </a:xfrm>
          <a:prstGeom prst="rect">
            <a:avLst/>
          </a:prstGeom>
        </p:spPr>
      </p:pic>
      <p:sp>
        <p:nvSpPr>
          <p:cNvPr id="5" name="Rectangle 4">
            <a:extLst>
              <a:ext uri="{FF2B5EF4-FFF2-40B4-BE49-F238E27FC236}">
                <a16:creationId xmlns:a16="http://schemas.microsoft.com/office/drawing/2014/main" id="{52C41381-DADC-19BC-C205-87F7865F6A45}"/>
              </a:ext>
            </a:extLst>
          </p:cNvPr>
          <p:cNvSpPr/>
          <p:nvPr/>
        </p:nvSpPr>
        <p:spPr>
          <a:xfrm>
            <a:off x="526845" y="1427252"/>
            <a:ext cx="11783962" cy="498663"/>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50000"/>
              </a:lnSpc>
            </a:pPr>
            <a:r>
              <a:rPr lang="en-IN" sz="2000" b="1" dirty="0">
                <a:latin typeface="Times New Roman" panose="02020603050405020304" pitchFamily="18" charset="0"/>
                <a:cs typeface="Times New Roman" panose="02020603050405020304" pitchFamily="18" charset="0"/>
              </a:rPr>
              <a:t>FUTURE ENHANCEMENT</a:t>
            </a:r>
          </a:p>
        </p:txBody>
      </p:sp>
      <p:sp>
        <p:nvSpPr>
          <p:cNvPr id="7" name="TextBox 6">
            <a:extLst>
              <a:ext uri="{FF2B5EF4-FFF2-40B4-BE49-F238E27FC236}">
                <a16:creationId xmlns:a16="http://schemas.microsoft.com/office/drawing/2014/main" id="{6FD52AFF-63FB-4503-68C4-C4DBDC67D01B}"/>
              </a:ext>
            </a:extLst>
          </p:cNvPr>
          <p:cNvSpPr txBox="1"/>
          <p:nvPr/>
        </p:nvSpPr>
        <p:spPr>
          <a:xfrm>
            <a:off x="391885" y="2217538"/>
            <a:ext cx="11570963" cy="3785652"/>
          </a:xfrm>
          <a:prstGeom prst="rect">
            <a:avLst/>
          </a:prstGeom>
          <a:noFill/>
        </p:spPr>
        <p:txBody>
          <a:bodyPr wrap="square">
            <a:spAutoFit/>
          </a:bodyPr>
          <a:lstStyle/>
          <a:p>
            <a:pPr marL="457200" indent="-457200">
              <a:buFont typeface="+mj-lt"/>
              <a:buAutoNum type="arabicPeriod"/>
            </a:pPr>
            <a:r>
              <a:rPr lang="en-IN" sz="2000" dirty="0">
                <a:latin typeface="Times New Roman" panose="02020603050405020304" pitchFamily="18" charset="0"/>
                <a:cs typeface="Times New Roman" panose="02020603050405020304" pitchFamily="18" charset="0"/>
              </a:rPr>
              <a:t>Microcontroller Integration: Replacing the 555 timer with a microcontroller to allow more precise voltage and current monitoring and the addition of advanced features like charging profiles for different battery types.</a:t>
            </a:r>
          </a:p>
          <a:p>
            <a:pPr marL="457200" indent="-457200">
              <a:buFont typeface="+mj-lt"/>
              <a:buAutoNum type="arabicPeriod"/>
            </a:pPr>
            <a:endParaRPr lang="en-IN" sz="20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IN" sz="2000" dirty="0">
                <a:latin typeface="Times New Roman" panose="02020603050405020304" pitchFamily="18" charset="0"/>
                <a:cs typeface="Times New Roman" panose="02020603050405020304" pitchFamily="18" charset="0"/>
              </a:rPr>
              <a:t>Overcurrent Protection: Incorporating additional circuits to protect against excessive current during faults or power surges.</a:t>
            </a:r>
          </a:p>
          <a:p>
            <a:pPr marL="457200" indent="-457200">
              <a:buFont typeface="+mj-lt"/>
              <a:buAutoNum type="arabicPeriod"/>
            </a:pPr>
            <a:endParaRPr lang="en-IN" sz="20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IN" sz="2000" dirty="0">
                <a:latin typeface="Times New Roman" panose="02020603050405020304" pitchFamily="18" charset="0"/>
                <a:cs typeface="Times New Roman" panose="02020603050405020304" pitchFamily="18" charset="0"/>
              </a:rPr>
              <a:t>Multiple Battery Compatibility: Modifying the design to support a variety of battery chemistries (e.g., Li-ion, NiMH) with selectable charging parameters.</a:t>
            </a:r>
          </a:p>
          <a:p>
            <a:pPr marL="457200" indent="-457200">
              <a:buFont typeface="+mj-lt"/>
              <a:buAutoNum type="arabicPeriod"/>
            </a:pPr>
            <a:endParaRPr lang="en-IN" sz="20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IN" sz="2000" dirty="0">
                <a:latin typeface="Times New Roman" panose="02020603050405020304" pitchFamily="18" charset="0"/>
                <a:cs typeface="Times New Roman" panose="02020603050405020304" pitchFamily="18" charset="0"/>
              </a:rPr>
              <a:t>5.  Charging Status Indicators: Adding LED or digital displays to show real-time charging status, battery health, and remaining charge time.</a:t>
            </a:r>
          </a:p>
        </p:txBody>
      </p:sp>
    </p:spTree>
    <p:extLst>
      <p:ext uri="{BB962C8B-B14F-4D97-AF65-F5344CB8AC3E}">
        <p14:creationId xmlns:p14="http://schemas.microsoft.com/office/powerpoint/2010/main" val="24254649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D7D928B-FF6E-7AF2-9EBF-67314351ACD0}"/>
              </a:ext>
            </a:extLst>
          </p:cNvPr>
          <p:cNvPicPr>
            <a:picLocks noChangeAspect="1"/>
          </p:cNvPicPr>
          <p:nvPr/>
        </p:nvPicPr>
        <p:blipFill>
          <a:blip r:embed="rId2" cstate="print"/>
          <a:srcRect t="20925" b="14217"/>
          <a:stretch>
            <a:fillRect/>
          </a:stretch>
        </p:blipFill>
        <p:spPr>
          <a:xfrm>
            <a:off x="235983" y="176984"/>
            <a:ext cx="2816934" cy="958645"/>
          </a:xfrm>
          <a:prstGeom prst="rect">
            <a:avLst/>
          </a:prstGeom>
        </p:spPr>
      </p:pic>
      <p:pic>
        <p:nvPicPr>
          <p:cNvPr id="3" name="Picture 2">
            <a:extLst>
              <a:ext uri="{FF2B5EF4-FFF2-40B4-BE49-F238E27FC236}">
                <a16:creationId xmlns:a16="http://schemas.microsoft.com/office/drawing/2014/main" id="{9517D804-36B1-1B87-CF43-0E1E2A876C74}"/>
              </a:ext>
            </a:extLst>
          </p:cNvPr>
          <p:cNvPicPr>
            <a:picLocks noChangeAspect="1"/>
          </p:cNvPicPr>
          <p:nvPr/>
        </p:nvPicPr>
        <p:blipFill>
          <a:blip r:embed="rId3" cstate="print"/>
          <a:stretch>
            <a:fillRect/>
          </a:stretch>
        </p:blipFill>
        <p:spPr>
          <a:xfrm>
            <a:off x="5928852" y="269154"/>
            <a:ext cx="979948" cy="736822"/>
          </a:xfrm>
          <a:prstGeom prst="rect">
            <a:avLst/>
          </a:prstGeom>
        </p:spPr>
      </p:pic>
      <p:pic>
        <p:nvPicPr>
          <p:cNvPr id="4" name="Picture 3">
            <a:extLst>
              <a:ext uri="{FF2B5EF4-FFF2-40B4-BE49-F238E27FC236}">
                <a16:creationId xmlns:a16="http://schemas.microsoft.com/office/drawing/2014/main" id="{0C22B2A7-60F2-EE47-035E-0AF2C8AB0CC9}"/>
              </a:ext>
            </a:extLst>
          </p:cNvPr>
          <p:cNvPicPr>
            <a:picLocks noChangeAspect="1"/>
          </p:cNvPicPr>
          <p:nvPr/>
        </p:nvPicPr>
        <p:blipFill rotWithShape="1">
          <a:blip r:embed="rId4"/>
          <a:srcRect l="17820" r="18861"/>
          <a:stretch/>
        </p:blipFill>
        <p:spPr>
          <a:xfrm>
            <a:off x="11282517" y="191728"/>
            <a:ext cx="680332" cy="635895"/>
          </a:xfrm>
          <a:prstGeom prst="rect">
            <a:avLst/>
          </a:prstGeom>
        </p:spPr>
      </p:pic>
      <p:sp>
        <p:nvSpPr>
          <p:cNvPr id="5" name="Rectangle 4">
            <a:extLst>
              <a:ext uri="{FF2B5EF4-FFF2-40B4-BE49-F238E27FC236}">
                <a16:creationId xmlns:a16="http://schemas.microsoft.com/office/drawing/2014/main" id="{168FF366-231A-7F22-A1D8-0DB2D66DF726}"/>
              </a:ext>
            </a:extLst>
          </p:cNvPr>
          <p:cNvSpPr/>
          <p:nvPr/>
        </p:nvSpPr>
        <p:spPr>
          <a:xfrm>
            <a:off x="206477" y="1287292"/>
            <a:ext cx="11783962" cy="498663"/>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50000"/>
              </a:lnSpc>
            </a:pPr>
            <a:r>
              <a:rPr lang="en-IN" sz="2000" b="1" dirty="0">
                <a:latin typeface="Times New Roman" panose="02020603050405020304" pitchFamily="18" charset="0"/>
                <a:cs typeface="Times New Roman" panose="02020603050405020304" pitchFamily="18" charset="0"/>
              </a:rPr>
              <a:t>REFERENCE</a:t>
            </a:r>
          </a:p>
        </p:txBody>
      </p:sp>
      <p:sp>
        <p:nvSpPr>
          <p:cNvPr id="9" name="TextBox 8">
            <a:extLst>
              <a:ext uri="{FF2B5EF4-FFF2-40B4-BE49-F238E27FC236}">
                <a16:creationId xmlns:a16="http://schemas.microsoft.com/office/drawing/2014/main" id="{53A7C423-AB90-319C-86A6-9A2206CEE2F8}"/>
              </a:ext>
            </a:extLst>
          </p:cNvPr>
          <p:cNvSpPr txBox="1"/>
          <p:nvPr/>
        </p:nvSpPr>
        <p:spPr>
          <a:xfrm>
            <a:off x="719937" y="2827176"/>
            <a:ext cx="11008643" cy="2831544"/>
          </a:xfrm>
          <a:prstGeom prst="rect">
            <a:avLst/>
          </a:prstGeom>
          <a:noFill/>
        </p:spPr>
        <p:txBody>
          <a:bodyPr wrap="square">
            <a:spAutoFit/>
          </a:bodyPr>
          <a:lstStyle/>
          <a:p>
            <a:pPr marL="342900" indent="-342900">
              <a:buFont typeface="+mj-lt"/>
              <a:buAutoNum type="arabicPeriod"/>
            </a:pPr>
            <a:r>
              <a:rPr lang="en-US" sz="2000" dirty="0">
                <a:latin typeface="Times New Roman" panose="02020603050405020304" pitchFamily="18" charset="0"/>
                <a:cs typeface="Times New Roman" panose="02020603050405020304" pitchFamily="18" charset="0"/>
              </a:rPr>
              <a:t>"Power Electronics: Circuits, Devices, and Applications" by Muhammad H. Rashid.</a:t>
            </a:r>
          </a:p>
          <a:p>
            <a:pPr marL="342900" indent="-342900">
              <a:buFont typeface="+mj-lt"/>
              <a:buAutoNum type="arabicPeriod"/>
            </a:pPr>
            <a:r>
              <a:rPr lang="en-US" sz="2000" dirty="0">
                <a:latin typeface="Times New Roman" panose="02020603050405020304" pitchFamily="18" charset="0"/>
                <a:cs typeface="Times New Roman" panose="02020603050405020304" pitchFamily="18" charset="0"/>
              </a:rPr>
              <a:t>"Principles of Power Electronics" by John G. </a:t>
            </a:r>
            <a:r>
              <a:rPr lang="en-US" sz="2000" dirty="0" err="1">
                <a:latin typeface="Times New Roman" panose="02020603050405020304" pitchFamily="18" charset="0"/>
                <a:cs typeface="Times New Roman" panose="02020603050405020304" pitchFamily="18" charset="0"/>
              </a:rPr>
              <a:t>Kassakian</a:t>
            </a:r>
            <a:r>
              <a:rPr lang="en-US" sz="2000" dirty="0">
                <a:latin typeface="Times New Roman" panose="02020603050405020304" pitchFamily="18" charset="0"/>
                <a:cs typeface="Times New Roman" panose="02020603050405020304" pitchFamily="18" charset="0"/>
              </a:rPr>
              <a:t> et al.</a:t>
            </a:r>
          </a:p>
          <a:p>
            <a:pPr marL="342900" indent="-342900">
              <a:buFont typeface="+mj-lt"/>
              <a:buAutoNum type="arabicPeriod"/>
            </a:pPr>
            <a:r>
              <a:rPr lang="en-US" sz="2000" dirty="0">
                <a:latin typeface="Times New Roman" panose="02020603050405020304" pitchFamily="18" charset="0"/>
                <a:cs typeface="Times New Roman" panose="02020603050405020304" pitchFamily="18" charset="0"/>
              </a:rPr>
              <a:t>" Basic Electronics for Scientists and Engineers" by Dennis L. Eggleston – Covers fundamentals of circuits including SCR and 555 timer.</a:t>
            </a:r>
          </a:p>
          <a:p>
            <a:pPr marL="342900" indent="-342900">
              <a:buFont typeface="+mj-lt"/>
              <a:buAutoNum type="arabicPeriod"/>
            </a:pPr>
            <a:r>
              <a:rPr lang="en-US" sz="2000" dirty="0">
                <a:latin typeface="Times New Roman" panose="02020603050405020304" pitchFamily="18" charset="0"/>
                <a:cs typeface="Times New Roman" panose="02020603050405020304" pitchFamily="18" charset="0"/>
              </a:rPr>
              <a:t> "Electronic Devices and Circuit Theory" by Robert </a:t>
            </a:r>
            <a:r>
              <a:rPr lang="en-US" sz="2000" dirty="0" err="1">
                <a:latin typeface="Times New Roman" panose="02020603050405020304" pitchFamily="18" charset="0"/>
                <a:cs typeface="Times New Roman" panose="02020603050405020304" pitchFamily="18" charset="0"/>
              </a:rPr>
              <a:t>Boylestad</a:t>
            </a:r>
            <a:r>
              <a:rPr lang="en-US" sz="2000" dirty="0">
                <a:latin typeface="Times New Roman" panose="02020603050405020304" pitchFamily="18" charset="0"/>
                <a:cs typeface="Times New Roman" panose="02020603050405020304" pitchFamily="18" charset="0"/>
              </a:rPr>
              <a:t> and Louis </a:t>
            </a:r>
            <a:r>
              <a:rPr lang="en-US" sz="2000" dirty="0" err="1">
                <a:latin typeface="Times New Roman" panose="02020603050405020304" pitchFamily="18" charset="0"/>
                <a:cs typeface="Times New Roman" panose="02020603050405020304" pitchFamily="18" charset="0"/>
              </a:rPr>
              <a:t>Nashelsky</a:t>
            </a:r>
            <a:r>
              <a:rPr lang="en-US" sz="2000" dirty="0">
                <a:latin typeface="Times New Roman" panose="02020603050405020304" pitchFamily="18" charset="0"/>
                <a:cs typeface="Times New Roman" panose="02020603050405020304" pitchFamily="18" charset="0"/>
              </a:rPr>
              <a:t> – Discusses SCR operation and control.</a:t>
            </a:r>
          </a:p>
          <a:p>
            <a:pPr marL="342900" indent="-342900">
              <a:buFont typeface="+mj-lt"/>
              <a:buAutoNum type="arabicPeriod"/>
            </a:pPr>
            <a:r>
              <a:rPr lang="en-US" sz="2000" dirty="0">
                <a:latin typeface="Times New Roman" panose="02020603050405020304" pitchFamily="18" charset="0"/>
                <a:cs typeface="Times New Roman" panose="02020603050405020304" pitchFamily="18" charset="0"/>
              </a:rPr>
              <a:t> "The Art of Electronics" by Paul Horowitz and Winfield Hill – Offers practical insights into timer circuits and power control.</a:t>
            </a:r>
          </a:p>
          <a:p>
            <a:pPr marL="342900" indent="-342900">
              <a:buFont typeface="+mj-lt"/>
              <a:buAutoNum type="arabicPeriod"/>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65321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1226</TotalTime>
  <Words>1370</Words>
  <Application>Microsoft Office PowerPoint</Application>
  <PresentationFormat>Widescreen</PresentationFormat>
  <Paragraphs>111</Paragraphs>
  <Slides>17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Algerian</vt:lpstr>
      <vt:lpstr>Aptos</vt:lpstr>
      <vt:lpstr>Arial</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Mokish</dc:creator>
  <cp:lastModifiedBy>Karunya shree S</cp:lastModifiedBy>
  <cp:revision>35</cp:revision>
  <cp:lastPrinted>2024-09-19T16:40:05Z</cp:lastPrinted>
  <dcterms:created xsi:type="dcterms:W3CDTF">2023-10-14T16:50:53Z</dcterms:created>
  <dcterms:modified xsi:type="dcterms:W3CDTF">2024-12-04T13:48:21Z</dcterms:modified>
</cp:coreProperties>
</file>